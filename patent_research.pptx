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6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7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8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9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85" r:id="rId3"/>
    <p:sldMasterId id="2147483692" r:id="rId4"/>
    <p:sldMasterId id="2147483699" r:id="rId5"/>
    <p:sldMasterId id="2147483706" r:id="rId6"/>
    <p:sldMasterId id="2147483713" r:id="rId7"/>
    <p:sldMasterId id="2147483720" r:id="rId8"/>
    <p:sldMasterId id="2147483727" r:id="rId9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41148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41148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41148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41148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41148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41148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41148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41148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41148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9FDA3A-173E-62D8-2CD6-65952619091E}" v="151" dt="2025-10-13T07:56:12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81943" y="4087076"/>
            <a:ext cx="11228115" cy="543675"/>
          </a:xfrm>
        </p:spPr>
        <p:txBody>
          <a:bodyPr wrap="square" lIns="108000" rIns="0" anchor="b">
            <a:spAutoFit/>
          </a:bodyPr>
          <a:lstStyle>
            <a:lvl1pPr algn="ctr">
              <a:defRPr sz="2933" baseline="0">
                <a:solidFill>
                  <a:schemeClr val="tx2"/>
                </a:solidFill>
              </a:defRPr>
            </a:lvl1pPr>
          </a:lstStyle>
          <a:p>
            <a:r>
              <a:rPr lang="nl-BE"/>
              <a:t>A SHOrt teasing title can be put here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1942" y="4531690"/>
            <a:ext cx="11228119" cy="424732"/>
          </a:xfrm>
        </p:spPr>
        <p:txBody>
          <a:bodyPr wrap="square" lIns="108000" rIns="0" anchor="t">
            <a:spAutoFit/>
          </a:bodyPr>
          <a:lstStyle>
            <a:lvl1pPr marL="0" indent="0" algn="ctr">
              <a:buNone/>
              <a:defRPr sz="2160" cap="none" baseline="0">
                <a:solidFill>
                  <a:schemeClr val="tx1"/>
                </a:solidFill>
              </a:defRPr>
            </a:lvl1pPr>
            <a:lvl2pPr marL="548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BE"/>
              <a:t>Your Name here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28930" y="6518637"/>
            <a:ext cx="11534141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ctr" defTabSz="548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cap="all">
                <a:solidFill>
                  <a:schemeClr val="tx1"/>
                </a:solidFill>
              </a:rPr>
              <a:t>CONFIDENTIAL – only internal USE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82" y="2274943"/>
            <a:ext cx="3861945" cy="1154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A5D55-4DA3-EC46-981C-D3B43AB5C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644" y="712728"/>
            <a:ext cx="4587565" cy="136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9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B3FB-293B-7B40-978D-7842F110384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4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0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5B3FB-293B-7B40-978D-7842F110384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11671300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017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74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B3FB-293B-7B40-978D-7842F110384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6117168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509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B3FB-293B-7B40-978D-7842F110384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none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5"/>
          </p:nvPr>
        </p:nvSpPr>
        <p:spPr>
          <a:xfrm>
            <a:off x="6060604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90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B3FB-293B-7B40-978D-7842F110384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none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0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our divider">
    <p:bg>
      <p:bgPr>
        <a:gradFill>
          <a:gsLst>
            <a:gs pos="0">
              <a:schemeClr val="accent6"/>
            </a:gs>
            <a:gs pos="60000">
              <a:schemeClr val="tx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1" y="3155831"/>
            <a:ext cx="11785600" cy="543675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bg1"/>
                </a:solidFill>
              </a:rPr>
              <a:t>CONFIDENTIAL – INTERNAL USE</a:t>
            </a:r>
          </a:p>
        </p:txBody>
      </p:sp>
    </p:spTree>
    <p:extLst>
      <p:ext uri="{BB962C8B-B14F-4D97-AF65-F5344CB8AC3E}">
        <p14:creationId xmlns:p14="http://schemas.microsoft.com/office/powerpoint/2010/main" val="34834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B3FB-293B-7B40-978D-7842F1103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7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Divider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3202" y="3152002"/>
            <a:ext cx="11671300" cy="543675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95019" y="6525767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r" defTabSz="548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cap="all">
                <a:solidFill>
                  <a:schemeClr val="tx1"/>
                </a:solidFill>
              </a:rPr>
              <a:t>CONFIDENTIAL – only internal USE</a:t>
            </a:r>
          </a:p>
        </p:txBody>
      </p:sp>
    </p:spTree>
    <p:extLst>
      <p:ext uri="{BB962C8B-B14F-4D97-AF65-F5344CB8AC3E}">
        <p14:creationId xmlns:p14="http://schemas.microsoft.com/office/powerpoint/2010/main" val="64845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3202" y="3152002"/>
            <a:ext cx="11671300" cy="543675"/>
          </a:xfrm>
        </p:spPr>
        <p:txBody>
          <a:bodyPr anchor="t"/>
          <a:lstStyle>
            <a:lvl1pPr algn="ctr"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bg1"/>
                </a:solidFill>
              </a:rPr>
              <a:t>CONFIDENTIAL – INTERNAL USE</a:t>
            </a:r>
          </a:p>
        </p:txBody>
      </p:sp>
    </p:spTree>
    <p:extLst>
      <p:ext uri="{BB962C8B-B14F-4D97-AF65-F5344CB8AC3E}">
        <p14:creationId xmlns:p14="http://schemas.microsoft.com/office/powerpoint/2010/main" val="10796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bg1"/>
                </a:solidFill>
              </a:rPr>
              <a:t>CONFIDENTIAL – INTERNAL USE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97" y="6521489"/>
            <a:ext cx="739200" cy="2257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616" y="1702531"/>
            <a:ext cx="6856768" cy="342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4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ouble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74" y="13913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B3FB-293B-7B40-978D-7842F110384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907315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2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81943" y="4087076"/>
            <a:ext cx="11228115" cy="543675"/>
          </a:xfrm>
        </p:spPr>
        <p:txBody>
          <a:bodyPr wrap="square" lIns="108000" rIns="0" anchor="b">
            <a:spAutoFit/>
          </a:bodyPr>
          <a:lstStyle>
            <a:lvl1pPr algn="ctr">
              <a:defRPr sz="2933" baseline="0">
                <a:solidFill>
                  <a:schemeClr val="tx2"/>
                </a:solidFill>
              </a:defRPr>
            </a:lvl1pPr>
          </a:lstStyle>
          <a:p>
            <a:r>
              <a:rPr lang="nl-BE"/>
              <a:t>A SHOrt teasing title can be put here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1942" y="4531690"/>
            <a:ext cx="11228119" cy="424732"/>
          </a:xfrm>
        </p:spPr>
        <p:txBody>
          <a:bodyPr wrap="square" lIns="108000" rIns="0" anchor="t">
            <a:spAutoFit/>
          </a:bodyPr>
          <a:lstStyle>
            <a:lvl1pPr marL="0" indent="0" algn="ctr">
              <a:buNone/>
              <a:defRPr sz="2160" cap="all">
                <a:solidFill>
                  <a:schemeClr val="tx1"/>
                </a:solidFill>
              </a:defRPr>
            </a:lvl1pPr>
            <a:lvl2pPr marL="548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BE"/>
              <a:t>Your Name here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28930" y="6518637"/>
            <a:ext cx="11534141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ctr" defTabSz="548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cap="all">
                <a:solidFill>
                  <a:schemeClr val="tx1"/>
                </a:solidFill>
              </a:rPr>
              <a:t>CONFIDENTIAL – INTERNAL USE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533" y="2091422"/>
            <a:ext cx="5361339" cy="160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2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11D9-8750-A248-8011-C2B18F577FE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4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2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811D9-8750-A248-8011-C2B18F577FE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11671300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744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74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11D9-8750-A248-8011-C2B18F577FE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6117168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104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11D9-8750-A248-8011-C2B18F577FE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5"/>
          </p:nvPr>
        </p:nvSpPr>
        <p:spPr>
          <a:xfrm>
            <a:off x="6060604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292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11D9-8750-A248-8011-C2B18F577FE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1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our divider">
    <p:bg>
      <p:bgPr>
        <a:gradFill>
          <a:gsLst>
            <a:gs pos="0">
              <a:schemeClr val="accent6"/>
            </a:gs>
            <a:gs pos="60000">
              <a:schemeClr val="tx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1" y="3155831"/>
            <a:ext cx="11785600" cy="543675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bg1"/>
                </a:solidFill>
              </a:rPr>
              <a:t>CONFIDENTIAL – INTERNAL USE</a:t>
            </a:r>
          </a:p>
        </p:txBody>
      </p:sp>
    </p:spTree>
    <p:extLst>
      <p:ext uri="{BB962C8B-B14F-4D97-AF65-F5344CB8AC3E}">
        <p14:creationId xmlns:p14="http://schemas.microsoft.com/office/powerpoint/2010/main" val="134033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11D9-8750-A248-8011-C2B18F577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1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Divider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3202" y="3152002"/>
            <a:ext cx="11671300" cy="543675"/>
          </a:xfrm>
        </p:spPr>
        <p:txBody>
          <a:bodyPr anchor="t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95019" y="6525767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tx1"/>
                </a:solidFill>
              </a:rPr>
              <a:t>CONFIDENTIAL – INTERNAL USE</a:t>
            </a:r>
          </a:p>
        </p:txBody>
      </p:sp>
    </p:spTree>
    <p:extLst>
      <p:ext uri="{BB962C8B-B14F-4D97-AF65-F5344CB8AC3E}">
        <p14:creationId xmlns:p14="http://schemas.microsoft.com/office/powerpoint/2010/main" val="308627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03202" y="3152002"/>
            <a:ext cx="11671300" cy="543675"/>
          </a:xfrm>
        </p:spPr>
        <p:txBody>
          <a:bodyPr anchor="t"/>
          <a:lstStyle>
            <a:lvl1pPr algn="ctr"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bg1"/>
                </a:solidFill>
              </a:rPr>
              <a:t>CONFIDENTIAL – INTERNAL USE</a:t>
            </a:r>
          </a:p>
        </p:txBody>
      </p:sp>
    </p:spTree>
    <p:extLst>
      <p:ext uri="{BB962C8B-B14F-4D97-AF65-F5344CB8AC3E}">
        <p14:creationId xmlns:p14="http://schemas.microsoft.com/office/powerpoint/2010/main" val="100769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bg1"/>
                </a:solidFill>
              </a:rPr>
              <a:t>CONFIDENTIAL – INTERNAL USE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97" y="6521489"/>
            <a:ext cx="739200" cy="2257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616" y="1702531"/>
            <a:ext cx="6856768" cy="342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17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4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3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11671300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26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74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6117168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182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5"/>
          </p:nvPr>
        </p:nvSpPr>
        <p:spPr>
          <a:xfrm>
            <a:off x="6060604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899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7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77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4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0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11671300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520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74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6117168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03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5"/>
          </p:nvPr>
        </p:nvSpPr>
        <p:spPr>
          <a:xfrm>
            <a:off x="6060604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8126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2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4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4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3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11671300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915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74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6117168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400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5"/>
          </p:nvPr>
        </p:nvSpPr>
        <p:spPr>
          <a:xfrm>
            <a:off x="6060604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60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5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4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11671300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339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74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6117168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151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5"/>
          </p:nvPr>
        </p:nvSpPr>
        <p:spPr>
          <a:xfrm>
            <a:off x="6060604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72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5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6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4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3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11671300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87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74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6117168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232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5"/>
          </p:nvPr>
        </p:nvSpPr>
        <p:spPr>
          <a:xfrm>
            <a:off x="6060604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10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1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81943" y="4087076"/>
            <a:ext cx="11228115" cy="543675"/>
          </a:xfrm>
        </p:spPr>
        <p:txBody>
          <a:bodyPr wrap="square" lIns="108000" rIns="0" anchor="b">
            <a:spAutoFit/>
          </a:bodyPr>
          <a:lstStyle>
            <a:lvl1pPr algn="ctr">
              <a:defRPr sz="2933" baseline="0">
                <a:solidFill>
                  <a:schemeClr val="tx2"/>
                </a:solidFill>
              </a:defRPr>
            </a:lvl1pPr>
          </a:lstStyle>
          <a:p>
            <a:r>
              <a:rPr lang="nl-BE"/>
              <a:t>A SHOrt teasing title can be put here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1942" y="4531690"/>
            <a:ext cx="11228119" cy="424732"/>
          </a:xfrm>
        </p:spPr>
        <p:txBody>
          <a:bodyPr wrap="square" lIns="108000" rIns="0" anchor="t">
            <a:spAutoFit/>
          </a:bodyPr>
          <a:lstStyle>
            <a:lvl1pPr marL="0" indent="0" algn="ctr">
              <a:buNone/>
              <a:defRPr sz="2160" cap="none" baseline="0">
                <a:solidFill>
                  <a:schemeClr val="tx1"/>
                </a:solidFill>
              </a:defRPr>
            </a:lvl1pPr>
            <a:lvl2pPr marL="548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BE"/>
              <a:t>Your Name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4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4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9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11671300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923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74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6117168" y="1437640"/>
            <a:ext cx="5757333" cy="469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363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14175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5"/>
          </p:nvPr>
        </p:nvSpPr>
        <p:spPr>
          <a:xfrm>
            <a:off x="6060604" y="1428751"/>
            <a:ext cx="5824869" cy="4709160"/>
          </a:xfrm>
        </p:spPr>
        <p:txBody>
          <a:bodyPr/>
          <a:lstStyle>
            <a:lvl1pPr marL="430520" indent="-430520">
              <a:buClr>
                <a:schemeClr val="tx2"/>
              </a:buClr>
              <a:buSzPct val="65000"/>
              <a:buFont typeface="+mj-lt"/>
              <a:buAutoNum type="arabicPeriod"/>
              <a:defRPr/>
            </a:lvl1pPr>
            <a:lvl2pPr marL="861038" indent="-312412">
              <a:buClr>
                <a:schemeClr val="tx1"/>
              </a:buClr>
              <a:buSzPct val="65000"/>
              <a:buFont typeface="+mj-lt"/>
              <a:buAutoNum type="arabicPeriod"/>
              <a:defRPr/>
            </a:lvl2pPr>
            <a:lvl3pPr marL="1400141" indent="-302888">
              <a:buClr>
                <a:schemeClr val="tx2"/>
              </a:buClr>
              <a:buSzPct val="65000"/>
              <a:buFont typeface="+mj-lt"/>
              <a:buAutoNum type="arabicPeriod"/>
              <a:defRPr/>
            </a:lvl3pPr>
            <a:lvl4pPr marL="1939242" indent="-293363">
              <a:buClr>
                <a:schemeClr val="tx1"/>
              </a:buClr>
              <a:buSzPct val="65000"/>
              <a:buFont typeface="+mj-lt"/>
              <a:buAutoNum type="arabicPeriod"/>
              <a:defRPr/>
            </a:lvl4pPr>
            <a:lvl5pPr marL="2472629" indent="-278124">
              <a:buClr>
                <a:schemeClr val="tx2"/>
              </a:buClr>
              <a:buSzPct val="65000"/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20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14175" y="768421"/>
            <a:ext cx="11671300" cy="4616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lang="en-US" sz="2400" b="0" i="0" kern="1200" cap="all" baseline="0" dirty="0">
                <a:solidFill>
                  <a:schemeClr val="tx1"/>
                </a:solidFill>
                <a:latin typeface="Gill Sans MT"/>
                <a:ea typeface="+mn-ea"/>
                <a:cs typeface="Gill Sans MT"/>
              </a:defRPr>
            </a:lvl1pPr>
          </a:lstStyle>
          <a:p>
            <a:pPr marL="0" lvl="0" indent="0" algn="l" defTabSz="548626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Arial"/>
              <a:buNone/>
            </a:pPr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17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4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81943" y="4087076"/>
            <a:ext cx="11228115" cy="543675"/>
          </a:xfrm>
        </p:spPr>
        <p:txBody>
          <a:bodyPr wrap="square" lIns="108000" rIns="0" anchor="b">
            <a:spAutoFit/>
          </a:bodyPr>
          <a:lstStyle>
            <a:lvl1pPr algn="ctr">
              <a:defRPr sz="2933" baseline="0">
                <a:solidFill>
                  <a:schemeClr val="tx2"/>
                </a:solidFill>
              </a:defRPr>
            </a:lvl1pPr>
          </a:lstStyle>
          <a:p>
            <a:r>
              <a:rPr lang="nl-BE"/>
              <a:t>A SHOrt teasing title can be put here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1942" y="4531690"/>
            <a:ext cx="11228119" cy="424732"/>
          </a:xfrm>
        </p:spPr>
        <p:txBody>
          <a:bodyPr wrap="square" lIns="108000" rIns="0" anchor="t">
            <a:spAutoFit/>
          </a:bodyPr>
          <a:lstStyle>
            <a:lvl1pPr marL="0" indent="0" algn="ctr">
              <a:buNone/>
              <a:defRPr sz="2160" cap="none" baseline="0">
                <a:solidFill>
                  <a:schemeClr val="tx1"/>
                </a:solidFill>
              </a:defRPr>
            </a:lvl1pPr>
            <a:lvl2pPr marL="548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BE"/>
              <a:t>Your Name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9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3187701"/>
            <a:ext cx="12192000" cy="3044148"/>
          </a:xfrm>
          <a:prstGeom prst="rect">
            <a:avLst/>
          </a:prstGeom>
          <a:solidFill>
            <a:schemeClr val="accent2"/>
          </a:solidFill>
          <a:ln>
            <a:solidFill>
              <a:srgbClr val="F354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254921" y="1863621"/>
            <a:ext cx="11677931" cy="4994379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351">
              <a:solidFill>
                <a:schemeClr val="accent2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flipH="1">
            <a:off x="255001" y="1638088"/>
            <a:ext cx="11681987" cy="237403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439333" y="2597123"/>
            <a:ext cx="10363200" cy="1644685"/>
          </a:xfrm>
          <a:noFill/>
          <a:ln>
            <a:noFill/>
          </a:ln>
        </p:spPr>
        <p:txBody>
          <a:bodyPr lIns="0" tIns="0"/>
          <a:lstStyle>
            <a:lvl1pPr>
              <a:defRPr sz="255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39333" y="4267200"/>
            <a:ext cx="10320867" cy="2311400"/>
          </a:xfrm>
        </p:spPr>
        <p:txBody>
          <a:bodyPr/>
          <a:lstStyle>
            <a:lvl1pPr marL="0" indent="0">
              <a:buFont typeface="Arial"/>
              <a:buNone/>
              <a:defRPr sz="1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F4D194-9727-4426-92B8-FF00F836FC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78" y="204233"/>
            <a:ext cx="3680299" cy="9881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C5E46E-9EA3-403D-948A-D3273A70EB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310" y="347947"/>
            <a:ext cx="2381103" cy="71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5474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nl-BE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33500"/>
            <a:ext cx="11108267" cy="41656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</a:t>
            </a:r>
            <a:r>
              <a:rPr lang="nl-BE" err="1"/>
              <a:t>table</a:t>
            </a:r>
            <a:r>
              <a:rPr lang="nl-BE"/>
              <a:t> of content</a:t>
            </a:r>
          </a:p>
          <a:p>
            <a:pPr lvl="1"/>
            <a:r>
              <a:rPr lang="nl-BE"/>
              <a:t>Second level</a:t>
            </a:r>
          </a:p>
          <a:p>
            <a:pPr lvl="2"/>
            <a:r>
              <a:rPr lang="nl-BE" err="1"/>
              <a:t>Third</a:t>
            </a:r>
            <a:r>
              <a:rPr lang="nl-BE"/>
              <a:t> level</a:t>
            </a:r>
          </a:p>
          <a:p>
            <a:pPr lvl="3"/>
            <a:r>
              <a:rPr lang="nl-BE" err="1"/>
              <a:t>Fourth</a:t>
            </a:r>
            <a:r>
              <a:rPr lang="nl-BE"/>
              <a:t> level</a:t>
            </a:r>
          </a:p>
          <a:p>
            <a:pPr lvl="4"/>
            <a:r>
              <a:rPr lang="nl-BE" err="1"/>
              <a:t>Fifth</a:t>
            </a:r>
            <a:r>
              <a:rPr lang="nl-BE"/>
              <a:t> level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CA4CC9-45FE-4436-BE88-5BB79D8B3E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21" y="5524500"/>
            <a:ext cx="3366755" cy="90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920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nl-BE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33500"/>
            <a:ext cx="11108267" cy="41656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/>
              <a:t>Click to add table of content</a:t>
            </a:r>
          </a:p>
          <a:p>
            <a:pPr lvl="1"/>
            <a:r>
              <a:rPr lang="nl-BE"/>
              <a:t>Second level</a:t>
            </a:r>
          </a:p>
          <a:p>
            <a:pPr lvl="2"/>
            <a:r>
              <a:rPr lang="nl-BE"/>
              <a:t>Third level</a:t>
            </a:r>
          </a:p>
          <a:p>
            <a:pPr lvl="3"/>
            <a:r>
              <a:rPr lang="nl-BE"/>
              <a:t>Fourth level</a:t>
            </a:r>
          </a:p>
          <a:p>
            <a:pPr lvl="4"/>
            <a:r>
              <a:rPr lang="nl-BE"/>
              <a:t>Fifth level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CA4CC9-45FE-4436-BE88-5BB79D8B3E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21" y="5524500"/>
            <a:ext cx="3366755" cy="90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3408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81155"/>
            <a:ext cx="12192000" cy="1017917"/>
          </a:xfrm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057" y="1481137"/>
            <a:ext cx="11372849" cy="4006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 smtClean="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82536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746508"/>
            <a:ext cx="10363200" cy="1362075"/>
          </a:xfrm>
          <a:solidFill>
            <a:srgbClr val="000099"/>
          </a:solidFill>
        </p:spPr>
        <p:txBody>
          <a:bodyPr lIns="540000" tIns="244800"/>
          <a:lstStyle>
            <a:lvl1pPr algn="l">
              <a:defRPr sz="27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246321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82" indent="0">
              <a:buNone/>
              <a:defRPr sz="1351"/>
            </a:lvl2pPr>
            <a:lvl3pPr marL="685766" indent="0">
              <a:buNone/>
              <a:defRPr sz="1200"/>
            </a:lvl3pPr>
            <a:lvl4pPr marL="1028649" indent="0">
              <a:buNone/>
              <a:defRPr sz="1051"/>
            </a:lvl4pPr>
            <a:lvl5pPr marL="1371532" indent="0">
              <a:buNone/>
              <a:defRPr sz="1051"/>
            </a:lvl5pPr>
            <a:lvl6pPr marL="1714414" indent="0">
              <a:buNone/>
              <a:defRPr sz="1051"/>
            </a:lvl6pPr>
            <a:lvl7pPr marL="2057298" indent="0">
              <a:buNone/>
              <a:defRPr sz="1051"/>
            </a:lvl7pPr>
            <a:lvl8pPr marL="2400180" indent="0">
              <a:buNone/>
              <a:defRPr sz="1051"/>
            </a:lvl8pPr>
            <a:lvl9pPr marL="2743062" indent="0">
              <a:buNone/>
              <a:defRPr sz="10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 smtClean="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49B087-2799-49F0-8005-529CCEA480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78" y="204233"/>
            <a:ext cx="3680299" cy="9881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9053BD-CB69-492D-BE96-9F693E2E86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310" y="347947"/>
            <a:ext cx="2381103" cy="71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8137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933" y="155276"/>
            <a:ext cx="12208933" cy="1006824"/>
          </a:xfr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7" y="1479601"/>
            <a:ext cx="5583767" cy="46799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1017" y="1479601"/>
            <a:ext cx="5585883" cy="46799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 smtClean="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356945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9748"/>
            <a:ext cx="12192000" cy="1004529"/>
          </a:xfrm>
          <a:noFill/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l-BE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 smtClean="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21627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2528"/>
            <a:ext cx="12208933" cy="1017917"/>
          </a:xfrm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 smtClean="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347533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l-BE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 smtClean="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9147866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  <a:solidFill>
            <a:srgbClr val="000099"/>
          </a:solidFill>
        </p:spPr>
        <p:txBody>
          <a:bodyPr anchor="b"/>
          <a:lstStyle>
            <a:lvl1pPr algn="l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8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051"/>
            </a:lvl1pPr>
            <a:lvl2pPr marL="342882" indent="0">
              <a:buNone/>
              <a:defRPr sz="900"/>
            </a:lvl2pPr>
            <a:lvl3pPr marL="685766" indent="0">
              <a:buNone/>
              <a:defRPr sz="751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4" indent="0">
              <a:buNone/>
              <a:defRPr sz="675"/>
            </a:lvl6pPr>
            <a:lvl7pPr marL="2057298" indent="0">
              <a:buNone/>
              <a:defRPr sz="675"/>
            </a:lvl7pPr>
            <a:lvl8pPr marL="2400180" indent="0">
              <a:buNone/>
              <a:defRPr sz="675"/>
            </a:lvl8pPr>
            <a:lvl9pPr marL="274306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 smtClean="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660176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solidFill>
            <a:srgbClr val="000099"/>
          </a:solidFill>
          <a:ln>
            <a:solidFill>
              <a:srgbClr val="000099"/>
            </a:solidFill>
          </a:ln>
        </p:spPr>
        <p:txBody>
          <a:bodyPr anchor="b"/>
          <a:lstStyle>
            <a:lvl1pPr algn="l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051"/>
            </a:lvl1pPr>
            <a:lvl2pPr marL="342882" indent="0">
              <a:buNone/>
              <a:defRPr sz="900"/>
            </a:lvl2pPr>
            <a:lvl3pPr marL="685766" indent="0">
              <a:buNone/>
              <a:defRPr sz="751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4" indent="0">
              <a:buNone/>
              <a:defRPr sz="675"/>
            </a:lvl6pPr>
            <a:lvl7pPr marL="2057298" indent="0">
              <a:buNone/>
              <a:defRPr sz="675"/>
            </a:lvl7pPr>
            <a:lvl8pPr marL="2400180" indent="0">
              <a:buNone/>
              <a:defRPr sz="675"/>
            </a:lvl8pPr>
            <a:lvl9pPr marL="274306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 smtClean="0"/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973778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iss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3187701"/>
            <a:ext cx="12192000" cy="3044148"/>
          </a:xfrm>
          <a:prstGeom prst="rect">
            <a:avLst/>
          </a:prstGeom>
          <a:solidFill>
            <a:srgbClr val="F35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254921" y="1863621"/>
            <a:ext cx="11677931" cy="4994379"/>
          </a:xfrm>
          <a:prstGeom prst="rect">
            <a:avLst/>
          </a:prstGeom>
          <a:solidFill>
            <a:srgbClr val="0000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12" name="Right Triangle 11"/>
          <p:cNvSpPr/>
          <p:nvPr/>
        </p:nvSpPr>
        <p:spPr>
          <a:xfrm flipH="1">
            <a:off x="255001" y="1638089"/>
            <a:ext cx="11677851" cy="225535"/>
          </a:xfrm>
          <a:prstGeom prst="rtTriangle">
            <a:avLst/>
          </a:prstGeom>
          <a:solidFill>
            <a:srgbClr val="F35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extBox 8"/>
          <p:cNvSpPr txBox="1"/>
          <p:nvPr/>
        </p:nvSpPr>
        <p:spPr>
          <a:xfrm>
            <a:off x="1439336" y="2552703"/>
            <a:ext cx="10176933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700">
                <a:solidFill>
                  <a:srgbClr val="FF0000"/>
                </a:solidFill>
                <a:latin typeface="Verdana"/>
              </a:rPr>
              <a:t>ETRO</a:t>
            </a:r>
            <a:r>
              <a:rPr lang="en-US" sz="2700">
                <a:solidFill>
                  <a:schemeClr val="bg1"/>
                </a:solidFill>
                <a:latin typeface="Verdana"/>
              </a:rPr>
              <a:t> - Crossing boundaries </a:t>
            </a:r>
            <a:br>
              <a:rPr lang="en-US" sz="2700">
                <a:solidFill>
                  <a:schemeClr val="bg1"/>
                </a:solidFill>
                <a:latin typeface="Verdana"/>
              </a:rPr>
            </a:br>
            <a:r>
              <a:rPr lang="en-US" sz="2700">
                <a:solidFill>
                  <a:schemeClr val="bg1"/>
                </a:solidFill>
                <a:latin typeface="Verdana"/>
              </a:rPr>
              <a:t>with visionary electronics &amp; </a:t>
            </a:r>
            <a:r>
              <a:rPr lang="en-US" sz="2700" err="1">
                <a:solidFill>
                  <a:schemeClr val="bg1"/>
                </a:solidFill>
                <a:latin typeface="Verdana"/>
              </a:rPr>
              <a:t>ict</a:t>
            </a:r>
            <a:endParaRPr lang="en-US" sz="270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39336" y="4114803"/>
            <a:ext cx="9912605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14303" indent="-214303">
              <a:spcBef>
                <a:spcPts val="324"/>
              </a:spcBef>
              <a:buClr>
                <a:srgbClr val="ABB202"/>
              </a:buClr>
              <a:buFont typeface="Arial"/>
              <a:buChar char="•"/>
            </a:pPr>
            <a:r>
              <a:rPr lang="en-US" sz="1600">
                <a:solidFill>
                  <a:schemeClr val="bg1">
                    <a:lumMod val="95000"/>
                  </a:schemeClr>
                </a:solidFill>
                <a:latin typeface="+mj-lt"/>
              </a:rPr>
              <a:t>Delivering unique value through multidisciplinary engineering</a:t>
            </a:r>
          </a:p>
          <a:p>
            <a:pPr marL="214303" indent="-214303">
              <a:spcBef>
                <a:spcPts val="324"/>
              </a:spcBef>
              <a:buClr>
                <a:srgbClr val="ABB202"/>
              </a:buClr>
              <a:buFont typeface="Arial"/>
              <a:buChar char="•"/>
            </a:pPr>
            <a:endParaRPr lang="en-US" sz="1600">
              <a:solidFill>
                <a:schemeClr val="bg1">
                  <a:lumMod val="95000"/>
                </a:schemeClr>
              </a:solidFill>
              <a:latin typeface="+mj-lt"/>
            </a:endParaRPr>
          </a:p>
          <a:p>
            <a:pPr marL="214303" indent="-214303">
              <a:spcBef>
                <a:spcPts val="324"/>
              </a:spcBef>
              <a:buClr>
                <a:srgbClr val="ABB202"/>
              </a:buClr>
              <a:buFont typeface="Arial"/>
              <a:buChar char="•"/>
            </a:pPr>
            <a:r>
              <a:rPr lang="en-US" sz="1600">
                <a:solidFill>
                  <a:schemeClr val="bg1">
                    <a:lumMod val="95000"/>
                  </a:schemeClr>
                </a:solidFill>
                <a:latin typeface="+mj-lt"/>
              </a:rPr>
              <a:t>Making sense of audio, video, hyper dimensional signals and sensors for various sectors</a:t>
            </a:r>
          </a:p>
          <a:p>
            <a:pPr marL="214303" indent="-214303">
              <a:spcBef>
                <a:spcPts val="324"/>
              </a:spcBef>
              <a:buClr>
                <a:srgbClr val="ABB202"/>
              </a:buClr>
              <a:buFont typeface="Arial"/>
              <a:buChar char="•"/>
            </a:pPr>
            <a:endParaRPr lang="en-US" sz="1600">
              <a:solidFill>
                <a:schemeClr val="bg1">
                  <a:lumMod val="95000"/>
                </a:schemeClr>
              </a:solidFill>
              <a:latin typeface="+mj-lt"/>
            </a:endParaRPr>
          </a:p>
          <a:p>
            <a:pPr marL="214303" indent="-214303">
              <a:spcBef>
                <a:spcPts val="324"/>
              </a:spcBef>
              <a:buClr>
                <a:srgbClr val="ABB202"/>
              </a:buClr>
              <a:buFont typeface="Arial"/>
              <a:buChar char="•"/>
            </a:pPr>
            <a:r>
              <a:rPr lang="en-US" sz="1600">
                <a:solidFill>
                  <a:schemeClr val="bg1">
                    <a:lumMod val="95000"/>
                  </a:schemeClr>
                </a:solidFill>
                <a:latin typeface="+mj-lt"/>
              </a:rPr>
              <a:t>Demand-driven and fundamental research-beyond mainstream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A2BA89-C485-40DB-9A71-0A70960AB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517" y="53148"/>
            <a:ext cx="5902739" cy="158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297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216C-5BC3-7C44-80F8-E30864FFC22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14175" y="768420"/>
            <a:ext cx="11671300" cy="323165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8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28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32.xml"/><Relationship Id="rId7" Type="http://schemas.openxmlformats.org/officeDocument/2006/relationships/theme" Target="../theme/theme4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microsoft.com/office/2007/relationships/hdphoto" Target="../media/hdphoto1.wdp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5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9.xml"/><Relationship Id="rId9" Type="http://schemas.microsoft.com/office/2007/relationships/hdphoto" Target="../media/hdphoto2.wdp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46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2.xml"/><Relationship Id="rId10" Type="http://schemas.microsoft.com/office/2007/relationships/hdphoto" Target="../media/hdphoto3.wdp"/><Relationship Id="rId4" Type="http://schemas.openxmlformats.org/officeDocument/2006/relationships/slideLayout" Target="../slideLayouts/slideLayout51.xml"/><Relationship Id="rId9" Type="http://schemas.openxmlformats.org/officeDocument/2006/relationships/image" Target="../media/image1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microsoft.com/office/2007/relationships/hdphoto" Target="../media/hdphoto2.wdp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image" Target="../media/image9.jpeg"/><Relationship Id="rId5" Type="http://schemas.openxmlformats.org/officeDocument/2006/relationships/slideLayout" Target="../slideLayouts/slideLayout59.xml"/><Relationship Id="rId15" Type="http://schemas.openxmlformats.org/officeDocument/2006/relationships/image" Target="../media/image4.png"/><Relationship Id="rId10" Type="http://schemas.microsoft.com/office/2007/relationships/hdphoto" Target="../media/hdphoto3.wdp"/><Relationship Id="rId4" Type="http://schemas.openxmlformats.org/officeDocument/2006/relationships/slideLayout" Target="../slideLayouts/slideLayout58.xml"/><Relationship Id="rId9" Type="http://schemas.openxmlformats.org/officeDocument/2006/relationships/image" Target="../media/image11.png"/><Relationship Id="rId14" Type="http://schemas.openxmlformats.org/officeDocument/2006/relationships/image" Target="../media/image3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image" Target="../media/image12.png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175" y="346671"/>
            <a:ext cx="11671300" cy="54367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75" y="1437640"/>
            <a:ext cx="11671300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20267" y="6540686"/>
            <a:ext cx="1151467" cy="19499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67">
                <a:solidFill>
                  <a:schemeClr val="tx1"/>
                </a:solidFill>
              </a:defRPr>
            </a:lvl1pPr>
          </a:lstStyle>
          <a:p>
            <a:fld id="{6DF5B3FB-293B-7B40-978D-7842F110384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r" defTabSz="548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cap="all">
                <a:solidFill>
                  <a:schemeClr val="tx1"/>
                </a:solidFill>
              </a:rPr>
              <a:t>CONFIDENTIAL – only internal USE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" y="6522361"/>
            <a:ext cx="749447" cy="223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75B6FD-44A3-444A-8410-2596F4DA71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215" y="6469072"/>
            <a:ext cx="1235000" cy="36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3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548626" rtl="0" eaLnBrk="1" latinLnBrk="0" hangingPunct="1">
        <a:spcBef>
          <a:spcPct val="0"/>
        </a:spcBef>
        <a:buNone/>
        <a:defRPr sz="2933" b="0" i="0" kern="1200" cap="none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6"/>
        </a:buBlip>
        <a:defRPr sz="2400" b="0" i="0" kern="1200">
          <a:solidFill>
            <a:srgbClr val="000000"/>
          </a:solidFill>
          <a:latin typeface="Gill Sans MT"/>
          <a:ea typeface="+mn-ea"/>
          <a:cs typeface="Gill Sans MT"/>
        </a:defRPr>
      </a:lvl1pPr>
      <a:lvl2pPr marL="891518" indent="-342891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7"/>
        </a:buBlip>
        <a:defRPr sz="2160" b="0" i="0" kern="1200">
          <a:solidFill>
            <a:srgbClr val="000000"/>
          </a:solidFill>
          <a:latin typeface="Gill Sans MT"/>
          <a:ea typeface="+mn-ea"/>
          <a:cs typeface="Gill Sans MT"/>
        </a:defRPr>
      </a:lvl2pPr>
      <a:lvl3pPr marL="1371566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6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3pPr>
      <a:lvl4pPr marL="1920192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7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4pPr>
      <a:lvl5pPr marL="2468818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6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175" y="346671"/>
            <a:ext cx="11671300" cy="54367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75" y="1437640"/>
            <a:ext cx="11671300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20267" y="6540686"/>
            <a:ext cx="1151467" cy="19499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67">
                <a:solidFill>
                  <a:schemeClr val="tx1"/>
                </a:solidFill>
              </a:defRPr>
            </a:lvl1pPr>
          </a:lstStyle>
          <a:p>
            <a:fld id="{D54811D9-8750-A248-8011-C2B18F577FE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tx1"/>
                </a:solidFill>
              </a:rPr>
              <a:t>CONFIDENTIAL – INTERNAL USE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" y="6522361"/>
            <a:ext cx="749447" cy="2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5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548626" rtl="0" eaLnBrk="1" latinLnBrk="0" hangingPunct="1">
        <a:spcBef>
          <a:spcPct val="0"/>
        </a:spcBef>
        <a:buNone/>
        <a:defRPr sz="2933" b="0" i="0" kern="1200" cap="all">
          <a:solidFill>
            <a:schemeClr val="tx2"/>
          </a:solidFill>
          <a:latin typeface="Gill Sans MT"/>
          <a:ea typeface="+mj-ea"/>
          <a:cs typeface="Gill Sans MT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4"/>
        </a:buBlip>
        <a:defRPr sz="2400" b="0" i="0" kern="1200">
          <a:solidFill>
            <a:srgbClr val="000000"/>
          </a:solidFill>
          <a:latin typeface="Gill Sans MT"/>
          <a:ea typeface="+mn-ea"/>
          <a:cs typeface="Gill Sans MT"/>
        </a:defRPr>
      </a:lvl1pPr>
      <a:lvl2pPr marL="891518" indent="-342891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5"/>
        </a:buBlip>
        <a:defRPr sz="2160" b="0" i="0" kern="1200">
          <a:solidFill>
            <a:srgbClr val="000000"/>
          </a:solidFill>
          <a:latin typeface="Gill Sans MT"/>
          <a:ea typeface="+mn-ea"/>
          <a:cs typeface="Gill Sans MT"/>
        </a:defRPr>
      </a:lvl2pPr>
      <a:lvl3pPr marL="1371566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4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3pPr>
      <a:lvl4pPr marL="1920192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5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4pPr>
      <a:lvl5pPr marL="2468818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4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175" y="346671"/>
            <a:ext cx="11671300" cy="54367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75" y="1437640"/>
            <a:ext cx="11671300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20267" y="6540686"/>
            <a:ext cx="1151467" cy="19499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67">
                <a:solidFill>
                  <a:schemeClr val="tx1"/>
                </a:solidFill>
              </a:defRPr>
            </a:lvl1pPr>
          </a:lstStyle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tx1"/>
                </a:solidFill>
              </a:rPr>
              <a:t>CONFIDENTIAL – INTERNAL USE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" y="6522361"/>
            <a:ext cx="749447" cy="2239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7767" y="6507441"/>
            <a:ext cx="1056181" cy="2801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541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548626" rtl="0" eaLnBrk="1" latinLnBrk="0" hangingPunct="1">
        <a:spcBef>
          <a:spcPct val="0"/>
        </a:spcBef>
        <a:buNone/>
        <a:defRPr sz="2933" b="0" i="0" kern="1200" cap="all">
          <a:solidFill>
            <a:schemeClr val="tx2"/>
          </a:solidFill>
          <a:latin typeface="Gill Sans MT"/>
          <a:ea typeface="+mj-ea"/>
          <a:cs typeface="Gill Sans MT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0"/>
        </a:buBlip>
        <a:defRPr sz="2400" b="0" i="0" kern="1200">
          <a:solidFill>
            <a:srgbClr val="000000"/>
          </a:solidFill>
          <a:latin typeface="Gill Sans MT"/>
          <a:ea typeface="+mn-ea"/>
          <a:cs typeface="Gill Sans MT"/>
        </a:defRPr>
      </a:lvl1pPr>
      <a:lvl2pPr marL="891518" indent="-342891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2160" b="0" i="0" kern="1200">
          <a:solidFill>
            <a:srgbClr val="000000"/>
          </a:solidFill>
          <a:latin typeface="Gill Sans MT"/>
          <a:ea typeface="+mn-ea"/>
          <a:cs typeface="Gill Sans MT"/>
        </a:defRPr>
      </a:lvl2pPr>
      <a:lvl3pPr marL="1371566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0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3pPr>
      <a:lvl4pPr marL="1920192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4pPr>
      <a:lvl5pPr marL="2468818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0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175" y="346671"/>
            <a:ext cx="11671300" cy="54367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75" y="1437640"/>
            <a:ext cx="11671300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20267" y="6540686"/>
            <a:ext cx="1151467" cy="19499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67">
                <a:solidFill>
                  <a:schemeClr val="tx1"/>
                </a:solidFill>
              </a:defRPr>
            </a:lvl1pPr>
          </a:lstStyle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tx1"/>
                </a:solidFill>
              </a:rPr>
              <a:t>CONFIDENTIAL – INTERNAL USE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7766" y="6350144"/>
            <a:ext cx="534281" cy="4046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" y="6522361"/>
            <a:ext cx="749447" cy="2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548626" rtl="0" eaLnBrk="1" latinLnBrk="0" hangingPunct="1">
        <a:spcBef>
          <a:spcPct val="0"/>
        </a:spcBef>
        <a:buNone/>
        <a:defRPr sz="2933" b="0" i="0" kern="1200" cap="all">
          <a:solidFill>
            <a:schemeClr val="tx2"/>
          </a:solidFill>
          <a:latin typeface="Gill Sans MT"/>
          <a:ea typeface="+mj-ea"/>
          <a:cs typeface="Gill Sans MT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2400" b="0" i="0" kern="1200">
          <a:solidFill>
            <a:srgbClr val="000000"/>
          </a:solidFill>
          <a:latin typeface="Gill Sans MT"/>
          <a:ea typeface="+mn-ea"/>
          <a:cs typeface="Gill Sans MT"/>
        </a:defRPr>
      </a:lvl1pPr>
      <a:lvl2pPr marL="891518" indent="-342891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2"/>
        </a:buBlip>
        <a:defRPr sz="2160" b="0" i="0" kern="1200">
          <a:solidFill>
            <a:srgbClr val="000000"/>
          </a:solidFill>
          <a:latin typeface="Gill Sans MT"/>
          <a:ea typeface="+mn-ea"/>
          <a:cs typeface="Gill Sans MT"/>
        </a:defRPr>
      </a:lvl2pPr>
      <a:lvl3pPr marL="1371566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3pPr>
      <a:lvl4pPr marL="1920192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2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4pPr>
      <a:lvl5pPr marL="2468818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175" y="346671"/>
            <a:ext cx="11671300" cy="54367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75" y="1437640"/>
            <a:ext cx="11671300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20267" y="6540686"/>
            <a:ext cx="1151467" cy="19499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67">
                <a:solidFill>
                  <a:schemeClr val="tx1"/>
                </a:solidFill>
              </a:defRPr>
            </a:lvl1pPr>
          </a:lstStyle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tx1"/>
                </a:solidFill>
              </a:rPr>
              <a:t>CONFIDENTIAL – INTERNAL USE</a:t>
            </a:r>
          </a:p>
        </p:txBody>
      </p:sp>
      <p:pic>
        <p:nvPicPr>
          <p:cNvPr id="8" name="Picture 7" descr="Solliance_high.jpg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973" y="6479050"/>
            <a:ext cx="594547" cy="3266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" y="6522361"/>
            <a:ext cx="749447" cy="2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9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548626" rtl="0" eaLnBrk="1" latinLnBrk="0" hangingPunct="1">
        <a:spcBef>
          <a:spcPct val="0"/>
        </a:spcBef>
        <a:buNone/>
        <a:defRPr sz="2933" b="0" i="0" kern="1200" cap="all">
          <a:solidFill>
            <a:schemeClr val="tx2"/>
          </a:solidFill>
          <a:latin typeface="Gill Sans MT"/>
          <a:ea typeface="+mj-ea"/>
          <a:cs typeface="Gill Sans MT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2400" b="0" i="0" kern="1200">
          <a:solidFill>
            <a:srgbClr val="000000"/>
          </a:solidFill>
          <a:latin typeface="Gill Sans MT"/>
          <a:ea typeface="+mn-ea"/>
          <a:cs typeface="Gill Sans MT"/>
        </a:defRPr>
      </a:lvl1pPr>
      <a:lvl2pPr marL="891518" indent="-342891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2"/>
        </a:buBlip>
        <a:defRPr sz="2160" b="0" i="0" kern="1200">
          <a:solidFill>
            <a:srgbClr val="000000"/>
          </a:solidFill>
          <a:latin typeface="Gill Sans MT"/>
          <a:ea typeface="+mn-ea"/>
          <a:cs typeface="Gill Sans MT"/>
        </a:defRPr>
      </a:lvl2pPr>
      <a:lvl3pPr marL="1371566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3pPr>
      <a:lvl4pPr marL="1920192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2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4pPr>
      <a:lvl5pPr marL="2468818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175" y="346671"/>
            <a:ext cx="11671300" cy="54367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75" y="1437640"/>
            <a:ext cx="11671300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20267" y="6540686"/>
            <a:ext cx="1151467" cy="19499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67">
                <a:solidFill>
                  <a:schemeClr val="tx1"/>
                </a:solidFill>
              </a:defRPr>
            </a:lvl1pPr>
          </a:lstStyle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tx1"/>
                </a:solidFill>
              </a:rPr>
              <a:t>CONFIDENTIAL – INTERNAL USE</a:t>
            </a:r>
          </a:p>
        </p:txBody>
      </p:sp>
      <p:pic>
        <p:nvPicPr>
          <p:cNvPr id="8" name="Picture 7" descr="4-Exascience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7765" y="6498407"/>
            <a:ext cx="619995" cy="3000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" y="6522361"/>
            <a:ext cx="749447" cy="2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5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548626" rtl="0" eaLnBrk="1" latinLnBrk="0" hangingPunct="1">
        <a:spcBef>
          <a:spcPct val="0"/>
        </a:spcBef>
        <a:buNone/>
        <a:defRPr sz="2933" b="0" i="0" kern="1200" cap="all">
          <a:solidFill>
            <a:schemeClr val="tx2"/>
          </a:solidFill>
          <a:latin typeface="Gill Sans MT"/>
          <a:ea typeface="+mj-ea"/>
          <a:cs typeface="Gill Sans MT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0"/>
        </a:buBlip>
        <a:defRPr sz="2400" b="0" i="0" kern="1200">
          <a:solidFill>
            <a:srgbClr val="000000"/>
          </a:solidFill>
          <a:latin typeface="Gill Sans MT"/>
          <a:ea typeface="+mn-ea"/>
          <a:cs typeface="Gill Sans MT"/>
        </a:defRPr>
      </a:lvl1pPr>
      <a:lvl2pPr marL="891518" indent="-342891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2160" b="0" i="0" kern="1200">
          <a:solidFill>
            <a:srgbClr val="000000"/>
          </a:solidFill>
          <a:latin typeface="Gill Sans MT"/>
          <a:ea typeface="+mn-ea"/>
          <a:cs typeface="Gill Sans MT"/>
        </a:defRPr>
      </a:lvl2pPr>
      <a:lvl3pPr marL="1371566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0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3pPr>
      <a:lvl4pPr marL="1920192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1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4pPr>
      <a:lvl5pPr marL="2468818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0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175" y="346671"/>
            <a:ext cx="11671300" cy="54367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75" y="1437640"/>
            <a:ext cx="11671300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20267" y="6540686"/>
            <a:ext cx="1151467" cy="19499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67">
                <a:solidFill>
                  <a:schemeClr val="tx1"/>
                </a:solidFill>
              </a:defRPr>
            </a:lvl1pPr>
          </a:lstStyle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tx1"/>
                </a:solidFill>
              </a:rPr>
              <a:t>CONFIDENTIAL – INTERNAL USE</a:t>
            </a:r>
          </a:p>
        </p:txBody>
      </p:sp>
      <p:pic>
        <p:nvPicPr>
          <p:cNvPr id="9" name="Picture 8" descr="5-energyville.png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7767" y="6499104"/>
            <a:ext cx="685864" cy="284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" y="6522361"/>
            <a:ext cx="749447" cy="2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2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41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548626" rtl="0" eaLnBrk="1" latinLnBrk="0" hangingPunct="1">
        <a:spcBef>
          <a:spcPct val="0"/>
        </a:spcBef>
        <a:buNone/>
        <a:defRPr sz="2933" b="0" i="0" kern="1200" cap="all">
          <a:solidFill>
            <a:schemeClr val="tx2"/>
          </a:solidFill>
          <a:latin typeface="Gill Sans MT"/>
          <a:ea typeface="+mj-ea"/>
          <a:cs typeface="Gill Sans MT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2"/>
        </a:buBlip>
        <a:defRPr sz="2400" b="0" i="0" kern="1200">
          <a:solidFill>
            <a:srgbClr val="000000"/>
          </a:solidFill>
          <a:latin typeface="Gill Sans MT"/>
          <a:ea typeface="+mn-ea"/>
          <a:cs typeface="Gill Sans MT"/>
        </a:defRPr>
      </a:lvl1pPr>
      <a:lvl2pPr marL="891518" indent="-342891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3"/>
        </a:buBlip>
        <a:defRPr sz="2160" b="0" i="0" kern="1200">
          <a:solidFill>
            <a:srgbClr val="000000"/>
          </a:solidFill>
          <a:latin typeface="Gill Sans MT"/>
          <a:ea typeface="+mn-ea"/>
          <a:cs typeface="Gill Sans MT"/>
        </a:defRPr>
      </a:lvl2pPr>
      <a:lvl3pPr marL="1371566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2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3pPr>
      <a:lvl4pPr marL="1920192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3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4pPr>
      <a:lvl5pPr marL="2468818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2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175" y="346671"/>
            <a:ext cx="11671300" cy="54367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75" y="1437640"/>
            <a:ext cx="11671300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20267" y="6540686"/>
            <a:ext cx="1151467" cy="19499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67">
                <a:solidFill>
                  <a:schemeClr val="tx1"/>
                </a:solidFill>
              </a:defRPr>
            </a:lvl1pPr>
          </a:lstStyle>
          <a:p>
            <a:fld id="{8836216C-5BC3-7C44-80F8-E30864FFC2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95019" y="6525329"/>
            <a:ext cx="5185832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sz="800" cap="all">
                <a:solidFill>
                  <a:schemeClr val="tx1"/>
                </a:solidFill>
              </a:rPr>
              <a:t>CONFIDENTIAL – INTERNAL USE</a:t>
            </a:r>
          </a:p>
        </p:txBody>
      </p:sp>
      <p:pic>
        <p:nvPicPr>
          <p:cNvPr id="8" name="Picture 7" descr="5-energyville.png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349" y="6499104"/>
            <a:ext cx="685864" cy="284037"/>
          </a:xfrm>
          <a:prstGeom prst="rect">
            <a:avLst/>
          </a:prstGeom>
        </p:spPr>
      </p:pic>
      <p:pic>
        <p:nvPicPr>
          <p:cNvPr id="10" name="Picture 9" descr="Solliance_high.jpg"/>
          <p:cNvPicPr>
            <a:picLocks noChangeAspect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1327" y="6479050"/>
            <a:ext cx="594547" cy="3266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" y="6522361"/>
            <a:ext cx="749447" cy="2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9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42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548626" rtl="0" eaLnBrk="1" latinLnBrk="0" hangingPunct="1">
        <a:spcBef>
          <a:spcPct val="0"/>
        </a:spcBef>
        <a:buNone/>
        <a:defRPr sz="2933" b="0" i="0" kern="1200" cap="all">
          <a:solidFill>
            <a:schemeClr val="tx2"/>
          </a:solidFill>
          <a:latin typeface="Gill Sans MT"/>
          <a:ea typeface="+mj-ea"/>
          <a:cs typeface="Gill Sans MT"/>
        </a:defRPr>
      </a:lvl1pPr>
    </p:titleStyle>
    <p:bodyStyle>
      <a:lvl1pPr marL="411470" indent="-411470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4"/>
        </a:buBlip>
        <a:defRPr sz="2400" b="0" i="0" kern="1200">
          <a:solidFill>
            <a:srgbClr val="000000"/>
          </a:solidFill>
          <a:latin typeface="Gill Sans MT"/>
          <a:ea typeface="+mn-ea"/>
          <a:cs typeface="Gill Sans MT"/>
        </a:defRPr>
      </a:lvl1pPr>
      <a:lvl2pPr marL="891518" indent="-342891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5"/>
        </a:buBlip>
        <a:defRPr sz="2160" b="0" i="0" kern="1200">
          <a:solidFill>
            <a:srgbClr val="000000"/>
          </a:solidFill>
          <a:latin typeface="Gill Sans MT"/>
          <a:ea typeface="+mn-ea"/>
          <a:cs typeface="Gill Sans MT"/>
        </a:defRPr>
      </a:lvl2pPr>
      <a:lvl3pPr marL="1371566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4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3pPr>
      <a:lvl4pPr marL="1920192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5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4pPr>
      <a:lvl5pPr marL="2468818" indent="-274313" algn="l" defTabSz="548626" rtl="0" eaLnBrk="1" latinLnBrk="0" hangingPunct="1">
        <a:spcBef>
          <a:spcPct val="20000"/>
        </a:spcBef>
        <a:buClr>
          <a:schemeClr val="tx2"/>
        </a:buClr>
        <a:buSzPct val="100000"/>
        <a:buFontTx/>
        <a:buBlip>
          <a:blip r:embed="rId14"/>
        </a:buBlip>
        <a:defRPr sz="1920" b="0" i="0" kern="1200">
          <a:solidFill>
            <a:srgbClr val="000000"/>
          </a:solidFill>
          <a:latin typeface="Gill Sans MT"/>
          <a:ea typeface="+mn-ea"/>
          <a:cs typeface="Gill Sans MT"/>
        </a:defRPr>
      </a:lvl5pPr>
      <a:lvl6pPr marL="3017445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5486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54862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181314"/>
            <a:ext cx="12192000" cy="1011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92000" tIns="2916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BE"/>
              <a:t>Titel van de Slide</a:t>
            </a:r>
            <a:endParaRPr lang="nl-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4057" y="1557337"/>
            <a:ext cx="11372849" cy="4006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Titel tweede niveau</a:t>
            </a:r>
          </a:p>
          <a:p>
            <a:pPr lvl="1"/>
            <a:r>
              <a:rPr lang="nl-NL" err="1"/>
              <a:t>Second</a:t>
            </a:r>
            <a:r>
              <a:rPr lang="nl-NL"/>
              <a:t> level</a:t>
            </a:r>
          </a:p>
          <a:p>
            <a:pPr lvl="2"/>
            <a:r>
              <a:rPr lang="nl-NL" err="1"/>
              <a:t>Third</a:t>
            </a:r>
            <a:r>
              <a:rPr lang="nl-NL"/>
              <a:t> level</a:t>
            </a:r>
          </a:p>
          <a:p>
            <a:pPr lvl="3"/>
            <a:r>
              <a:rPr lang="nl-NL" err="1"/>
              <a:t>Fourth</a:t>
            </a:r>
            <a:r>
              <a:rPr lang="nl-NL"/>
              <a:t>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768424" y="6526213"/>
            <a:ext cx="1020233" cy="20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751">
                <a:solidFill>
                  <a:schemeClr val="tx1"/>
                </a:solidFill>
                <a:latin typeface="+mn-lt"/>
              </a:defRPr>
            </a:lvl1pPr>
          </a:lstStyle>
          <a:p>
            <a:endParaRPr lang="nl-B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03000" y="6526213"/>
            <a:ext cx="406400" cy="20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751">
                <a:solidFill>
                  <a:schemeClr val="tx1"/>
                </a:solidFill>
                <a:latin typeface="+mn-lt"/>
              </a:defRPr>
            </a:lvl1pPr>
          </a:lstStyle>
          <a:p>
            <a:fld id="{007656ED-E7E8-4FB9-8948-F55109A4E911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8423" y="6477001"/>
            <a:ext cx="35517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751">
                <a:solidFill>
                  <a:schemeClr val="tx1"/>
                </a:solidFill>
                <a:latin typeface="+mn-lt"/>
              </a:defRPr>
            </a:lvl1pPr>
          </a:lstStyle>
          <a:p>
            <a:endParaRPr lang="nl-BE"/>
          </a:p>
        </p:txBody>
      </p:sp>
      <p:pic>
        <p:nvPicPr>
          <p:cNvPr id="9" name="Picture 8" descr="Driehoekje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1822357" y="184557"/>
            <a:ext cx="369643" cy="100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7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151">
          <a:solidFill>
            <a:schemeClr val="bg1"/>
          </a:solidFill>
          <a:latin typeface="Verdana" pitchFamily="-65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151">
          <a:solidFill>
            <a:schemeClr val="bg1"/>
          </a:solidFill>
          <a:latin typeface="Verdana" pitchFamily="-65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151">
          <a:solidFill>
            <a:schemeClr val="bg1"/>
          </a:solidFill>
          <a:latin typeface="Verdana" pitchFamily="-65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151">
          <a:solidFill>
            <a:schemeClr val="bg1"/>
          </a:solidFill>
          <a:latin typeface="Verdana" pitchFamily="-65" charset="0"/>
        </a:defRPr>
      </a:lvl5pPr>
      <a:lvl6pPr marL="342882" algn="l" rtl="0" eaLnBrk="1" fontAlgn="base" hangingPunct="1">
        <a:spcBef>
          <a:spcPct val="0"/>
        </a:spcBef>
        <a:spcAft>
          <a:spcPct val="0"/>
        </a:spcAft>
        <a:defRPr sz="3151">
          <a:solidFill>
            <a:schemeClr val="bg1"/>
          </a:solidFill>
          <a:latin typeface="Verdana" pitchFamily="-65" charset="0"/>
        </a:defRPr>
      </a:lvl6pPr>
      <a:lvl7pPr marL="685766" algn="l" rtl="0" eaLnBrk="1" fontAlgn="base" hangingPunct="1">
        <a:spcBef>
          <a:spcPct val="0"/>
        </a:spcBef>
        <a:spcAft>
          <a:spcPct val="0"/>
        </a:spcAft>
        <a:defRPr sz="3151">
          <a:solidFill>
            <a:schemeClr val="bg1"/>
          </a:solidFill>
          <a:latin typeface="Verdana" pitchFamily="-65" charset="0"/>
        </a:defRPr>
      </a:lvl7pPr>
      <a:lvl8pPr marL="1028649" algn="l" rtl="0" eaLnBrk="1" fontAlgn="base" hangingPunct="1">
        <a:spcBef>
          <a:spcPct val="0"/>
        </a:spcBef>
        <a:spcAft>
          <a:spcPct val="0"/>
        </a:spcAft>
        <a:defRPr sz="3151">
          <a:solidFill>
            <a:schemeClr val="bg1"/>
          </a:solidFill>
          <a:latin typeface="Verdana" pitchFamily="-65" charset="0"/>
        </a:defRPr>
      </a:lvl8pPr>
      <a:lvl9pPr marL="1371532" algn="l" rtl="0" eaLnBrk="1" fontAlgn="base" hangingPunct="1">
        <a:spcBef>
          <a:spcPct val="0"/>
        </a:spcBef>
        <a:spcAft>
          <a:spcPct val="0"/>
        </a:spcAft>
        <a:defRPr sz="3151">
          <a:solidFill>
            <a:schemeClr val="bg1"/>
          </a:solidFill>
          <a:latin typeface="Verdana" pitchFamily="-65" charset="0"/>
        </a:defRPr>
      </a:lvl9pPr>
    </p:titleStyle>
    <p:bodyStyle>
      <a:lvl1pPr marL="257162" indent="-257162" algn="l" rtl="0" eaLnBrk="1" fontAlgn="base" hangingPunct="1">
        <a:spcBef>
          <a:spcPct val="20000"/>
        </a:spcBef>
        <a:spcAft>
          <a:spcPct val="0"/>
        </a:spcAft>
        <a:buFont typeface="Arial"/>
        <a:buChar char="•"/>
        <a:defRPr sz="2100">
          <a:solidFill>
            <a:srgbClr val="5F604A"/>
          </a:solidFill>
          <a:latin typeface="+mn-lt"/>
          <a:ea typeface="+mn-ea"/>
          <a:cs typeface="+mn-cs"/>
        </a:defRPr>
      </a:lvl1pPr>
      <a:lvl2pPr marL="557185" indent="-214303" algn="l" rtl="0" eaLnBrk="1" fontAlgn="base" hangingPunct="1">
        <a:spcBef>
          <a:spcPct val="20000"/>
        </a:spcBef>
        <a:spcAft>
          <a:spcPct val="0"/>
        </a:spcAft>
        <a:buFont typeface="Arial"/>
        <a:buChar char="•"/>
        <a:defRPr sz="1800">
          <a:solidFill>
            <a:srgbClr val="7F7358"/>
          </a:solidFill>
          <a:latin typeface="+mn-lt"/>
          <a:ea typeface="ＭＳ Ｐゴシック" pitchFamily="-65" charset="-128"/>
        </a:defRPr>
      </a:lvl2pPr>
      <a:lvl3pPr marL="857208" indent="-171442" algn="l" rtl="0" eaLnBrk="1" fontAlgn="base" hangingPunct="1">
        <a:spcBef>
          <a:spcPct val="20000"/>
        </a:spcBef>
        <a:spcAft>
          <a:spcPct val="0"/>
        </a:spcAft>
        <a:buFont typeface="Arial"/>
        <a:buChar char="•"/>
        <a:defRPr sz="1500">
          <a:solidFill>
            <a:srgbClr val="7F7358"/>
          </a:solidFill>
          <a:latin typeface="+mn-lt"/>
          <a:ea typeface="ＭＳ Ｐゴシック" pitchFamily="-65" charset="-128"/>
        </a:defRPr>
      </a:lvl3pPr>
      <a:lvl4pPr marL="1200091" indent="-171442" algn="l" rtl="0" eaLnBrk="1" fontAlgn="base" hangingPunct="1">
        <a:spcBef>
          <a:spcPct val="20000"/>
        </a:spcBef>
        <a:spcAft>
          <a:spcPct val="0"/>
        </a:spcAft>
        <a:buFont typeface="Arial"/>
        <a:buChar char="•"/>
        <a:defRPr sz="1351">
          <a:solidFill>
            <a:srgbClr val="7F7358"/>
          </a:solidFill>
          <a:latin typeface="+mn-lt"/>
          <a:ea typeface="ＭＳ Ｐゴシック" pitchFamily="-65" charset="-128"/>
        </a:defRPr>
      </a:lvl4pPr>
      <a:lvl5pPr marL="1542973" indent="-171442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7F7358"/>
          </a:solidFill>
          <a:latin typeface="+mn-lt"/>
          <a:ea typeface="ＭＳ Ｐゴシック" pitchFamily="-65" charset="-128"/>
        </a:defRPr>
      </a:lvl5pPr>
      <a:lvl6pPr marL="1885857" indent="-171442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7F7358"/>
          </a:solidFill>
          <a:latin typeface="+mn-lt"/>
          <a:ea typeface="ＭＳ Ｐゴシック" pitchFamily="-65" charset="-128"/>
        </a:defRPr>
      </a:lvl6pPr>
      <a:lvl7pPr marL="2228739" indent="-171442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7F7358"/>
          </a:solidFill>
          <a:latin typeface="+mn-lt"/>
          <a:ea typeface="ＭＳ Ｐゴシック" pitchFamily="-65" charset="-128"/>
        </a:defRPr>
      </a:lvl7pPr>
      <a:lvl8pPr marL="2571622" indent="-171442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7F7358"/>
          </a:solidFill>
          <a:latin typeface="+mn-lt"/>
          <a:ea typeface="ＭＳ Ｐゴシック" pitchFamily="-65" charset="-128"/>
        </a:defRPr>
      </a:lvl8pPr>
      <a:lvl9pPr marL="2914506" indent="-171442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7F7358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0F7C82-6713-75E6-7029-7971CF8FC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Blerta_Project</a:t>
            </a:r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9AD4631-FB09-A0BB-21F3-3BBBDA71B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9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D53EDF-856E-4AF7-539F-2D8F2172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74" y="166895"/>
            <a:ext cx="13088870" cy="461665"/>
          </a:xfrm>
        </p:spPr>
        <p:txBody>
          <a:bodyPr/>
          <a:lstStyle/>
          <a:p>
            <a:r>
              <a:rPr lang="fr-BE" sz="2400" err="1"/>
              <a:t>pATENt</a:t>
            </a:r>
            <a:r>
              <a:rPr lang="fr-BE" sz="2400"/>
              <a:t> </a:t>
            </a:r>
            <a:r>
              <a:rPr lang="fr-BE" sz="2400" err="1"/>
              <a:t>Research</a:t>
            </a:r>
            <a:r>
              <a:rPr lang="fr-BE" sz="240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41929A-EB3F-0641-F255-816EFBD2C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41" y="628560"/>
            <a:ext cx="8392520" cy="5108658"/>
          </a:xfrm>
        </p:spPr>
        <p:txBody>
          <a:bodyPr/>
          <a:lstStyle/>
          <a:p>
            <a:pPr marL="410845" indent="-410845" algn="just">
              <a:buFont typeface="Arial" panose="020B0604020202020204" pitchFamily="34" charset="0"/>
              <a:buChar char="•"/>
            </a:pPr>
            <a:r>
              <a:rPr lang="en-US" b="1" dirty="0"/>
              <a:t>Laser-based Fourier ptychographic imaging systems and methods</a:t>
            </a:r>
          </a:p>
          <a:p>
            <a:pPr marL="890270" lvl="1" indent="-410845" algn="just">
              <a:buFont typeface="Arial" panose="020B0604020202020204" pitchFamily="34" charset="0"/>
              <a:buChar char="•"/>
            </a:pPr>
            <a:r>
              <a:rPr lang="fr-BE" sz="1550" dirty="0"/>
              <a:t>US20190331902A1, </a:t>
            </a:r>
            <a:r>
              <a:rPr lang="fr-BE" sz="1550" dirty="0" err="1"/>
              <a:t>Status</a:t>
            </a:r>
            <a:r>
              <a:rPr lang="fr-BE" sz="1550" dirty="0"/>
              <a:t> </a:t>
            </a:r>
            <a:r>
              <a:rPr lang="fr-BE" sz="1550" dirty="0" err="1">
                <a:highlight>
                  <a:srgbClr val="FF0000"/>
                </a:highlight>
              </a:rPr>
              <a:t>Abandoned</a:t>
            </a:r>
            <a:endParaRPr lang="fr-BE" sz="1550" dirty="0">
              <a:highlight>
                <a:srgbClr val="FF0000"/>
              </a:highlight>
            </a:endParaRPr>
          </a:p>
          <a:p>
            <a:pPr marL="410845" indent="-410845" algn="just">
              <a:buFont typeface="Arial" panose="020B0604020202020204" pitchFamily="34" charset="0"/>
              <a:buChar char="•"/>
            </a:pPr>
            <a:endParaRPr lang="fr-BE">
              <a:highlight>
                <a:srgbClr val="FF0000"/>
              </a:highlight>
            </a:endParaRPr>
          </a:p>
          <a:p>
            <a:pPr marL="410845" indent="-410845" algn="just">
              <a:buFont typeface="Arial" panose="020B0604020202020204" pitchFamily="34" charset="0"/>
              <a:buChar char="•"/>
            </a:pPr>
            <a:r>
              <a:rPr lang="en-US" b="1" dirty="0"/>
              <a:t>Soft x-ray processing device and soft x-ray processing method</a:t>
            </a:r>
          </a:p>
          <a:p>
            <a:pPr marL="890270" lvl="1" indent="-410845" algn="just">
              <a:buFont typeface="Arial" panose="020B0604020202020204" pitchFamily="34" charset="0"/>
              <a:buChar char="•"/>
            </a:pPr>
            <a:r>
              <a:rPr lang="fr-BE" sz="1550" dirty="0"/>
              <a:t>US2007165782A1, Publication : 2007-07-19, </a:t>
            </a:r>
            <a:r>
              <a:rPr lang="fr-BE" sz="1550" dirty="0" err="1"/>
              <a:t>status</a:t>
            </a:r>
            <a:r>
              <a:rPr lang="fr-BE" sz="1550" dirty="0"/>
              <a:t> : </a:t>
            </a:r>
            <a:r>
              <a:rPr lang="fr-BE" sz="1550" dirty="0" err="1">
                <a:highlight>
                  <a:srgbClr val="FF0000"/>
                </a:highlight>
              </a:rPr>
              <a:t>Abandoned</a:t>
            </a:r>
            <a:r>
              <a:rPr lang="fr-BE" sz="1550" dirty="0">
                <a:highlight>
                  <a:srgbClr val="FF0000"/>
                </a:highlight>
              </a:rPr>
              <a:t> </a:t>
            </a:r>
          </a:p>
          <a:p>
            <a:pPr marL="0" indent="0" algn="just">
              <a:buNone/>
            </a:pPr>
            <a:endParaRPr lang="fr-BE" sz="2200"/>
          </a:p>
          <a:p>
            <a:pPr marL="0" indent="0" algn="just">
              <a:buNone/>
            </a:pPr>
            <a:endParaRPr lang="fr-BE"/>
          </a:p>
          <a:p>
            <a:pPr marL="0" indent="0" algn="just">
              <a:buNone/>
            </a:pPr>
            <a:endParaRPr lang="fr-BE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22C306D-00EB-9CB5-FD36-C07D21152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733" y="166895"/>
            <a:ext cx="2156625" cy="329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39162B-2D7A-072C-3C21-C94B65E90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716" y="3182889"/>
            <a:ext cx="2436660" cy="308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6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B2BB-2459-7CB0-80C6-EF5A0033C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75" y="428681"/>
            <a:ext cx="11671300" cy="461665"/>
          </a:xfrm>
        </p:spPr>
        <p:txBody>
          <a:bodyPr/>
          <a:lstStyle/>
          <a:p>
            <a:r>
              <a:rPr lang="fr-BE" sz="2400" err="1"/>
              <a:t>pATENt</a:t>
            </a:r>
            <a:r>
              <a:rPr lang="fr-BE" sz="2400"/>
              <a:t> </a:t>
            </a:r>
            <a:r>
              <a:rPr lang="fr-BE" sz="2400" err="1"/>
              <a:t>Research</a:t>
            </a:r>
            <a:r>
              <a:rPr lang="fr-BE" sz="2400"/>
              <a:t> 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28FAD-D5DE-7206-28D5-4F226F457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176" y="109289"/>
            <a:ext cx="8493834" cy="6325972"/>
          </a:xfrm>
        </p:spPr>
        <p:txBody>
          <a:bodyPr>
            <a:normAutofit fontScale="92500" lnSpcReduction="20000"/>
          </a:bodyPr>
          <a:lstStyle/>
          <a:p>
            <a:pPr marL="410845" indent="-410845">
              <a:buFont typeface="Arial"/>
              <a:buChar char="•"/>
            </a:pPr>
            <a:endParaRPr lang="en-US">
              <a:ea typeface="Roboto"/>
              <a:cs typeface="Roboto"/>
            </a:endParaRPr>
          </a:p>
          <a:p>
            <a:pPr marL="410845" indent="-410845">
              <a:buFont typeface="Arial"/>
              <a:buChar char="•"/>
            </a:pPr>
            <a:endParaRPr lang="en-US">
              <a:ea typeface="Roboto"/>
              <a:cs typeface="Roboto"/>
            </a:endParaRPr>
          </a:p>
          <a:p>
            <a:pPr marL="410845" indent="-410845" algn="just">
              <a:buFont typeface="Arial"/>
              <a:buChar char="•"/>
            </a:pPr>
            <a:r>
              <a:rPr lang="en-US" b="1" dirty="0">
                <a:ea typeface="Roboto"/>
                <a:cs typeface="Roboto"/>
              </a:rPr>
              <a:t>Soft x-ray monochromator</a:t>
            </a:r>
          </a:p>
          <a:p>
            <a:pPr marL="890270" lvl="1" indent="-410845" algn="just">
              <a:buFont typeface="Arial,Sans-Serif"/>
              <a:buChar char="•"/>
            </a:pPr>
            <a:r>
              <a:rPr lang="en-US" sz="1300" dirty="0">
                <a:ea typeface="Roboto"/>
                <a:cs typeface="Roboto"/>
              </a:rPr>
              <a:t>WO2025149950A1</a:t>
            </a:r>
            <a:endParaRPr lang="en-US" sz="1550" dirty="0">
              <a:ea typeface="Roboto"/>
              <a:cs typeface="Roboto"/>
            </a:endParaRPr>
          </a:p>
          <a:p>
            <a:pPr marL="890270" lvl="1" indent="-410845" algn="just">
              <a:buFont typeface="Arial,Sans-Serif"/>
              <a:buChar char="•"/>
            </a:pPr>
            <a:r>
              <a:rPr lang="en-US" sz="1550" dirty="0">
                <a:ea typeface="Roboto"/>
                <a:cs typeface="Roboto"/>
              </a:rPr>
              <a:t>2025-07-17 </a:t>
            </a:r>
            <a:r>
              <a:rPr lang="en-US" sz="1550" u="sng" dirty="0">
                <a:ea typeface="Roboto"/>
                <a:cs typeface="Roboto"/>
              </a:rPr>
              <a:t>Publication by Nova Measuring Instrument Inc</a:t>
            </a:r>
          </a:p>
          <a:p>
            <a:pPr marL="410845" indent="-410845">
              <a:buNone/>
            </a:pPr>
            <a:r>
              <a:rPr lang="en-US" sz="2200" dirty="0">
                <a:ea typeface="Roboto"/>
                <a:cs typeface="Roboto"/>
              </a:rPr>
              <a:t> </a:t>
            </a:r>
            <a:r>
              <a:rPr lang="en-US" sz="2200" i="1" dirty="0">
                <a:ea typeface="Roboto"/>
                <a:cs typeface="Roboto"/>
              </a:rPr>
              <a:t>Summary:</a:t>
            </a:r>
            <a:r>
              <a:rPr lang="en-US" sz="2200" dirty="0">
                <a:ea typeface="Roboto"/>
                <a:cs typeface="Roboto"/>
              </a:rPr>
              <a:t> </a:t>
            </a:r>
            <a:endParaRPr lang="en-US" dirty="0">
              <a:ea typeface="Roboto"/>
              <a:cs typeface="Roboto"/>
            </a:endParaRPr>
          </a:p>
          <a:p>
            <a:pPr marL="410845" indent="-410845" algn="just">
              <a:buNone/>
            </a:pPr>
            <a:r>
              <a:rPr lang="en-US" sz="2200" dirty="0">
                <a:ea typeface="Roboto"/>
                <a:cs typeface="Roboto"/>
              </a:rPr>
              <a:t> </a:t>
            </a:r>
            <a:r>
              <a:rPr lang="en-US" sz="2000" dirty="0">
                <a:ea typeface="Roboto"/>
                <a:cs typeface="Roboto"/>
              </a:rPr>
              <a:t>Describes a </a:t>
            </a:r>
            <a:r>
              <a:rPr lang="en-US" sz="2000" b="1" dirty="0">
                <a:ea typeface="Roboto"/>
                <a:cs typeface="Roboto"/>
              </a:rPr>
              <a:t>soft X-ray monochromator</a:t>
            </a:r>
            <a:r>
              <a:rPr lang="en-US" sz="2000" dirty="0">
                <a:ea typeface="Roboto"/>
                <a:cs typeface="Roboto"/>
              </a:rPr>
              <a:t> for precise focusing of X-ray beams. It uses a </a:t>
            </a:r>
            <a:r>
              <a:rPr lang="en-US" sz="2000" b="1" dirty="0">
                <a:ea typeface="Roboto"/>
                <a:cs typeface="Roboto"/>
              </a:rPr>
              <a:t>curved polished substrate</a:t>
            </a:r>
            <a:r>
              <a:rPr lang="en-US" sz="2000" dirty="0">
                <a:ea typeface="Roboto"/>
                <a:cs typeface="Roboto"/>
              </a:rPr>
              <a:t> with </a:t>
            </a:r>
            <a:r>
              <a:rPr lang="en-US" sz="2000" b="1" dirty="0">
                <a:ea typeface="Roboto"/>
                <a:cs typeface="Roboto"/>
              </a:rPr>
              <a:t>optically bonded crystal platelets</a:t>
            </a:r>
            <a:r>
              <a:rPr lang="en-US" sz="2000" dirty="0">
                <a:ea typeface="Roboto"/>
                <a:cs typeface="Roboto"/>
              </a:rPr>
              <a:t> that follow the curvature, reducing aberrations and surface roughness. Operating at </a:t>
            </a:r>
            <a:r>
              <a:rPr lang="en-US" sz="2000" b="1" dirty="0">
                <a:ea typeface="Roboto"/>
                <a:cs typeface="Roboto"/>
              </a:rPr>
              <a:t>0.8–10 keV</a:t>
            </a:r>
            <a:r>
              <a:rPr lang="en-US" sz="2000" dirty="0">
                <a:ea typeface="Roboto"/>
                <a:cs typeface="Roboto"/>
              </a:rPr>
              <a:t>, it is suitable for </a:t>
            </a:r>
            <a:r>
              <a:rPr lang="en-US" sz="2000" b="1" dirty="0">
                <a:ea typeface="Roboto"/>
                <a:cs typeface="Roboto"/>
              </a:rPr>
              <a:t>ptychography, XPS, X-ray reflectometry, and XRF</a:t>
            </a:r>
            <a:r>
              <a:rPr lang="en-US" sz="2000" dirty="0">
                <a:ea typeface="Roboto"/>
                <a:cs typeface="Roboto"/>
              </a:rPr>
              <a:t>, and supports </a:t>
            </a:r>
            <a:r>
              <a:rPr lang="en-US" sz="2000" b="1" dirty="0">
                <a:ea typeface="Roboto"/>
                <a:cs typeface="Roboto"/>
              </a:rPr>
              <a:t>nanometer-scale measurements</a:t>
            </a:r>
            <a:r>
              <a:rPr lang="en-US" sz="2000" dirty="0">
                <a:ea typeface="Roboto"/>
                <a:cs typeface="Roboto"/>
              </a:rPr>
              <a:t> in semiconductor metrology.</a:t>
            </a:r>
          </a:p>
          <a:p>
            <a:pPr marL="410845" indent="-410845" algn="just">
              <a:buNone/>
            </a:pPr>
            <a:endParaRPr lang="en-US" sz="2000">
              <a:ea typeface="Roboto"/>
              <a:cs typeface="Roboto"/>
            </a:endParaRPr>
          </a:p>
          <a:p>
            <a:pPr marL="0" indent="0">
              <a:buNone/>
            </a:pPr>
            <a:r>
              <a:rPr lang="en-US" sz="2200" i="1" dirty="0">
                <a:ea typeface="Roboto"/>
                <a:cs typeface="Roboto"/>
              </a:rPr>
              <a:t> How? </a:t>
            </a:r>
          </a:p>
          <a:p>
            <a:pPr marL="410845" indent="-410845">
              <a:buFont typeface="Arial"/>
              <a:buChar char="•"/>
            </a:pPr>
            <a:r>
              <a:rPr lang="en-US" sz="2000" b="1" dirty="0">
                <a:ea typeface="Roboto"/>
                <a:cs typeface="Roboto"/>
              </a:rPr>
              <a:t>Curved polished substrate</a:t>
            </a:r>
            <a:r>
              <a:rPr lang="en-US" sz="2000" dirty="0">
                <a:ea typeface="Roboto"/>
                <a:cs typeface="Roboto"/>
              </a:rPr>
              <a:t> directs and focuses the incoming X-ray beam toward a precise focal point.</a:t>
            </a:r>
            <a:endParaRPr lang="en-US" sz="2000" dirty="0"/>
          </a:p>
          <a:p>
            <a:pPr marL="410845" indent="-410845">
              <a:buFont typeface="Arial"/>
              <a:buChar char="•"/>
            </a:pPr>
            <a:r>
              <a:rPr lang="en-US" sz="2000" b="1" dirty="0">
                <a:ea typeface="Roboto"/>
                <a:cs typeface="Roboto"/>
              </a:rPr>
              <a:t>Optically bonded crystal platelets</a:t>
            </a:r>
            <a:r>
              <a:rPr lang="en-US" sz="2000" dirty="0">
                <a:ea typeface="Roboto"/>
                <a:cs typeface="Roboto"/>
              </a:rPr>
              <a:t> follow the curvature of the substrate and act as diffraction elements, selecting specific X-ray wavelengths (</a:t>
            </a:r>
            <a:r>
              <a:rPr lang="en-US" sz="2000" dirty="0" err="1">
                <a:ea typeface="Roboto"/>
                <a:cs typeface="Roboto"/>
              </a:rPr>
              <a:t>monochromatization</a:t>
            </a:r>
            <a:r>
              <a:rPr lang="en-US" sz="2000" dirty="0">
                <a:ea typeface="Roboto"/>
                <a:cs typeface="Roboto"/>
              </a:rPr>
              <a:t>).</a:t>
            </a:r>
            <a:endParaRPr lang="en-US" sz="2000" dirty="0"/>
          </a:p>
          <a:p>
            <a:pPr marL="410845" indent="-410845">
              <a:buFont typeface="Arial"/>
              <a:buChar char="•"/>
            </a:pPr>
            <a:r>
              <a:rPr lang="en-US" sz="2000" b="1" dirty="0">
                <a:ea typeface="Roboto"/>
                <a:cs typeface="Roboto"/>
              </a:rPr>
              <a:t>Minimizes aberrations and surface roughness</a:t>
            </a:r>
            <a:r>
              <a:rPr lang="en-US" sz="2000" dirty="0">
                <a:ea typeface="Roboto"/>
                <a:cs typeface="Roboto"/>
              </a:rPr>
              <a:t>, ensuring high beam quality.</a:t>
            </a:r>
            <a:endParaRPr lang="en-US" sz="2000" dirty="0"/>
          </a:p>
          <a:p>
            <a:pPr marL="410845" indent="-410845">
              <a:buFont typeface="Arial"/>
              <a:buChar char="•"/>
            </a:pPr>
            <a:r>
              <a:rPr lang="en-US" sz="2000" dirty="0">
                <a:ea typeface="Roboto"/>
                <a:cs typeface="Roboto"/>
              </a:rPr>
              <a:t>Produces a </a:t>
            </a:r>
            <a:r>
              <a:rPr lang="en-US" sz="2000" b="1" dirty="0">
                <a:ea typeface="Roboto"/>
                <a:cs typeface="Roboto"/>
              </a:rPr>
              <a:t>highly focused, monochromatic X-ray beam</a:t>
            </a:r>
            <a:r>
              <a:rPr lang="en-US" sz="2000" dirty="0">
                <a:ea typeface="Roboto"/>
                <a:cs typeface="Roboto"/>
              </a:rPr>
              <a:t> suitable for </a:t>
            </a:r>
            <a:r>
              <a:rPr lang="en-US" sz="2000" b="1" dirty="0">
                <a:ea typeface="Roboto"/>
                <a:cs typeface="Roboto"/>
              </a:rPr>
              <a:t>high-resolution applications</a:t>
            </a:r>
            <a:r>
              <a:rPr lang="en-US" sz="2000" dirty="0">
                <a:ea typeface="Roboto"/>
                <a:cs typeface="Roboto"/>
              </a:rPr>
              <a:t> such as ptychography, XPS, X-ray reflectometry, and XRF.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759CD-541F-4436-30C7-0064027E7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823" y="1092837"/>
            <a:ext cx="3489859" cy="184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8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F944F-90DE-6619-09AF-6374B39B7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EA322D-36C0-E299-4AE2-4549B8A41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74" y="166895"/>
            <a:ext cx="13088870" cy="461665"/>
          </a:xfrm>
        </p:spPr>
        <p:txBody>
          <a:bodyPr/>
          <a:lstStyle/>
          <a:p>
            <a:r>
              <a:rPr lang="fr-BE" sz="2400" err="1"/>
              <a:t>pATENt</a:t>
            </a:r>
            <a:r>
              <a:rPr lang="fr-BE" sz="2400"/>
              <a:t> </a:t>
            </a:r>
            <a:r>
              <a:rPr lang="fr-BE" sz="2400" err="1"/>
              <a:t>Research</a:t>
            </a:r>
            <a:r>
              <a:rPr lang="fr-BE" sz="240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61CEFD-7BDF-7044-D734-D47A006FC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68" y="968372"/>
            <a:ext cx="8794114" cy="6179577"/>
          </a:xfrm>
        </p:spPr>
        <p:txBody>
          <a:bodyPr>
            <a:normAutofit/>
          </a:bodyPr>
          <a:lstStyle/>
          <a:p>
            <a:pPr marL="410845" indent="-410845" algn="just">
              <a:buFont typeface="Arial" panose="020B0604020202020204" pitchFamily="34" charset="0"/>
              <a:buChar char="•"/>
            </a:pPr>
            <a:r>
              <a:rPr lang="en" b="1" dirty="0"/>
              <a:t>Optical design method for X-ray focusing system using rotating mirror, and X-ray focusing system</a:t>
            </a:r>
            <a:endParaRPr lang="fr-BE" sz="1550" dirty="0">
              <a:highlight>
                <a:srgbClr val="FF0000"/>
              </a:highlight>
            </a:endParaRPr>
          </a:p>
          <a:p>
            <a:pPr marL="890905" lvl="1" indent="-410845" algn="just">
              <a:buFont typeface="Arial" panose="020B0604020202020204" pitchFamily="34" charset="0"/>
              <a:buChar char="•"/>
            </a:pPr>
            <a:r>
              <a:rPr lang="fr-BE" sz="1300" dirty="0"/>
              <a:t>US2016163409A1</a:t>
            </a:r>
            <a:endParaRPr lang="fr-BE" sz="1600" dirty="0">
              <a:ea typeface="Roboto"/>
              <a:cs typeface="Roboto"/>
            </a:endParaRPr>
          </a:p>
          <a:p>
            <a:pPr marL="890905" lvl="1" indent="-410845" algn="just">
              <a:buFont typeface="Arial" panose="020B0604020202020204" pitchFamily="34" charset="0"/>
              <a:buChar char="•"/>
            </a:pPr>
            <a:r>
              <a:rPr lang="fr-BE" sz="1600" dirty="0"/>
              <a:t>2016-06-09 </a:t>
            </a:r>
            <a:r>
              <a:rPr lang="en-US" sz="1600" u="sng" dirty="0" err="1"/>
              <a:t>Pubication</a:t>
            </a:r>
            <a:r>
              <a:rPr lang="en-US" sz="1600" u="sng" dirty="0"/>
              <a:t> by </a:t>
            </a:r>
            <a:r>
              <a:rPr lang="fr-BE" sz="1600" u="sng" dirty="0" err="1"/>
              <a:t>University</a:t>
            </a:r>
            <a:r>
              <a:rPr lang="fr-BE" sz="1600" u="sng" dirty="0"/>
              <a:t> of Tokyo</a:t>
            </a:r>
            <a:r>
              <a:rPr lang="fr-BE" sz="1600" dirty="0"/>
              <a:t> </a:t>
            </a:r>
            <a:endParaRPr lang="fr-BE" sz="2150" u="sng">
              <a:ea typeface="Roboto"/>
              <a:cs typeface="Roboto"/>
            </a:endParaRPr>
          </a:p>
          <a:p>
            <a:pPr marL="890905" lvl="1" indent="-410845" algn="just">
              <a:buFont typeface="Arial" panose="020B0604020202020204" pitchFamily="34" charset="0"/>
              <a:buChar char="•"/>
            </a:pPr>
            <a:r>
              <a:rPr lang="fr-BE" sz="1600" dirty="0">
                <a:ea typeface="Roboto"/>
                <a:cs typeface="Roboto"/>
              </a:rPr>
              <a:t>2034-08-28 </a:t>
            </a:r>
            <a:r>
              <a:rPr lang="fr-BE" sz="1600" u="sng" dirty="0" err="1">
                <a:ea typeface="Roboto"/>
                <a:cs typeface="Roboto"/>
              </a:rPr>
              <a:t>Adjusted</a:t>
            </a:r>
            <a:r>
              <a:rPr lang="fr-BE" sz="1600" u="sng" dirty="0">
                <a:ea typeface="Roboto"/>
                <a:cs typeface="Roboto"/>
              </a:rPr>
              <a:t> expiration</a:t>
            </a:r>
            <a:endParaRPr lang="fr-BE" sz="2150" u="sng"/>
          </a:p>
          <a:p>
            <a:pPr marL="548640" indent="0" algn="just">
              <a:buNone/>
            </a:pPr>
            <a:endParaRPr lang="fr-BE" sz="1500" dirty="0">
              <a:solidFill>
                <a:srgbClr val="333333"/>
              </a:solidFill>
              <a:ea typeface="Roboto"/>
              <a:cs typeface="Roboto"/>
            </a:endParaRPr>
          </a:p>
          <a:p>
            <a:pPr marL="410845" indent="-410845" algn="just">
              <a:buFont typeface="Arial,Sans-Serif" panose="020B0604020202020204" pitchFamily="34" charset="0"/>
              <a:buChar char="•"/>
            </a:pPr>
            <a:r>
              <a:rPr lang="fr-BE" b="1" dirty="0">
                <a:ea typeface="Roboto"/>
                <a:cs typeface="Roboto"/>
              </a:rPr>
              <a:t>Double </a:t>
            </a:r>
            <a:r>
              <a:rPr lang="fr-BE" b="1" dirty="0" err="1">
                <a:ea typeface="Roboto"/>
                <a:cs typeface="Roboto"/>
              </a:rPr>
              <a:t>reflection</a:t>
            </a:r>
            <a:r>
              <a:rPr lang="fr-BE" b="1" dirty="0">
                <a:ea typeface="Roboto"/>
                <a:cs typeface="Roboto"/>
              </a:rPr>
              <a:t> x-ray </a:t>
            </a:r>
            <a:r>
              <a:rPr lang="fr-BE" b="1" dirty="0" err="1">
                <a:ea typeface="Roboto"/>
                <a:cs typeface="Roboto"/>
              </a:rPr>
              <a:t>mirror</a:t>
            </a:r>
            <a:r>
              <a:rPr lang="fr-BE" b="1" dirty="0">
                <a:ea typeface="Roboto"/>
                <a:cs typeface="Roboto"/>
              </a:rPr>
              <a:t> and </a:t>
            </a:r>
            <a:r>
              <a:rPr lang="fr-BE" b="1" dirty="0" err="1">
                <a:ea typeface="Roboto"/>
                <a:cs typeface="Roboto"/>
              </a:rPr>
              <a:t>grazing</a:t>
            </a:r>
            <a:r>
              <a:rPr lang="fr-BE" b="1" dirty="0">
                <a:ea typeface="Roboto"/>
                <a:cs typeface="Roboto"/>
              </a:rPr>
              <a:t> incidence x-ray </a:t>
            </a:r>
            <a:r>
              <a:rPr lang="fr-BE" b="1" dirty="0" err="1">
                <a:ea typeface="Roboto"/>
                <a:cs typeface="Roboto"/>
              </a:rPr>
              <a:t>imaging</a:t>
            </a:r>
            <a:r>
              <a:rPr lang="fr-BE" b="1" dirty="0">
                <a:ea typeface="Roboto"/>
                <a:cs typeface="Roboto"/>
              </a:rPr>
              <a:t> </a:t>
            </a:r>
            <a:r>
              <a:rPr lang="fr-BE" b="1" dirty="0" err="1">
                <a:ea typeface="Roboto"/>
                <a:cs typeface="Roboto"/>
              </a:rPr>
              <a:t>optical</a:t>
            </a:r>
            <a:r>
              <a:rPr lang="fr-BE" b="1" dirty="0">
                <a:ea typeface="Roboto"/>
                <a:cs typeface="Roboto"/>
              </a:rPr>
              <a:t> </a:t>
            </a:r>
            <a:r>
              <a:rPr lang="fr-BE" b="1" dirty="0" err="1">
                <a:ea typeface="Roboto"/>
                <a:cs typeface="Roboto"/>
              </a:rPr>
              <a:t>device</a:t>
            </a:r>
            <a:r>
              <a:rPr lang="fr-BE" b="1" dirty="0">
                <a:ea typeface="Roboto"/>
                <a:cs typeface="Roboto"/>
              </a:rPr>
              <a:t> </a:t>
            </a:r>
            <a:r>
              <a:rPr lang="fr-BE" b="1" dirty="0" err="1">
                <a:ea typeface="Roboto"/>
                <a:cs typeface="Roboto"/>
              </a:rPr>
              <a:t>using</a:t>
            </a:r>
            <a:r>
              <a:rPr lang="fr-BE" b="1" dirty="0">
                <a:ea typeface="Roboto"/>
                <a:cs typeface="Roboto"/>
              </a:rPr>
              <a:t> the </a:t>
            </a:r>
            <a:r>
              <a:rPr lang="fr-BE" b="1" dirty="0" err="1">
                <a:ea typeface="Roboto"/>
                <a:cs typeface="Roboto"/>
              </a:rPr>
              <a:t>same</a:t>
            </a:r>
            <a:endParaRPr lang="fr-BE" b="1">
              <a:ea typeface="Roboto"/>
              <a:cs typeface="Roboto"/>
            </a:endParaRPr>
          </a:p>
          <a:p>
            <a:pPr marL="890905" lvl="1" indent="-410845" algn="just">
              <a:buFont typeface="Arial,Sans-Serif" panose="020B0604020202020204" pitchFamily="34" charset="0"/>
              <a:buChar char="•"/>
            </a:pPr>
            <a:r>
              <a:rPr lang="fr-BE" sz="1550">
                <a:ea typeface="Roboto"/>
                <a:cs typeface="Roboto"/>
              </a:rPr>
              <a:t>JP2014006457A</a:t>
            </a:r>
          </a:p>
          <a:p>
            <a:pPr marL="890905" lvl="1" indent="-410845" algn="just">
              <a:buFont typeface="Arial,Sans-Serif" panose="020B0604020202020204" pitchFamily="34" charset="0"/>
              <a:buChar char="•"/>
            </a:pPr>
            <a:r>
              <a:rPr lang="fr-BE" sz="1550" dirty="0">
                <a:solidFill>
                  <a:srgbClr val="202124"/>
                </a:solidFill>
                <a:ea typeface="Roboto"/>
                <a:cs typeface="Roboto"/>
              </a:rPr>
              <a:t>2014-01-16 </a:t>
            </a:r>
            <a:r>
              <a:rPr lang="fr-BE" sz="1550" u="sng" dirty="0">
                <a:solidFill>
                  <a:srgbClr val="202124"/>
                </a:solidFill>
                <a:ea typeface="Roboto"/>
                <a:cs typeface="Roboto"/>
              </a:rPr>
              <a:t>Publication by Osaka </a:t>
            </a:r>
            <a:r>
              <a:rPr lang="fr-BE" sz="1550" u="sng" err="1">
                <a:solidFill>
                  <a:srgbClr val="202124"/>
                </a:solidFill>
                <a:ea typeface="Roboto"/>
                <a:cs typeface="Roboto"/>
              </a:rPr>
              <a:t>University</a:t>
            </a:r>
            <a:r>
              <a:rPr lang="fr-BE" sz="1550" u="sng" dirty="0">
                <a:solidFill>
                  <a:srgbClr val="202124"/>
                </a:solidFill>
                <a:ea typeface="Roboto"/>
                <a:cs typeface="Roboto"/>
              </a:rPr>
              <a:t> NUC, </a:t>
            </a:r>
            <a:r>
              <a:rPr lang="fr-BE" sz="1550" u="sng" err="1">
                <a:solidFill>
                  <a:srgbClr val="202124"/>
                </a:solidFill>
                <a:ea typeface="Roboto"/>
                <a:cs typeface="Roboto"/>
              </a:rPr>
              <a:t>JTec</a:t>
            </a:r>
            <a:r>
              <a:rPr lang="fr-BE" sz="1550" u="sng">
                <a:solidFill>
                  <a:srgbClr val="202124"/>
                </a:solidFill>
                <a:ea typeface="Roboto"/>
                <a:cs typeface="Roboto"/>
              </a:rPr>
              <a:t> Corp</a:t>
            </a:r>
            <a:endParaRPr lang="fr-BE" sz="1550" u="sng">
              <a:ea typeface="Roboto"/>
              <a:cs typeface="Roboto"/>
            </a:endParaRPr>
          </a:p>
          <a:p>
            <a:pPr marL="890905" lvl="1" indent="-410845" algn="just">
              <a:buFont typeface="Arial,Sans-Serif" panose="020B0604020202020204" pitchFamily="34" charset="0"/>
              <a:buChar char="•"/>
            </a:pPr>
            <a:r>
              <a:rPr lang="fr-BE" sz="1550" dirty="0">
                <a:solidFill>
                  <a:srgbClr val="202124"/>
                </a:solidFill>
                <a:ea typeface="Roboto"/>
                <a:cs typeface="Roboto"/>
              </a:rPr>
              <a:t>2032-06-27 </a:t>
            </a:r>
            <a:r>
              <a:rPr lang="fr-BE" sz="1550" u="sng" err="1">
                <a:solidFill>
                  <a:schemeClr val="tx1"/>
                </a:solidFill>
                <a:ea typeface="Roboto"/>
                <a:cs typeface="Roboto"/>
              </a:rPr>
              <a:t>Anticipated</a:t>
            </a:r>
            <a:r>
              <a:rPr lang="fr-BE" sz="1550" u="sng" dirty="0">
                <a:solidFill>
                  <a:schemeClr val="tx1"/>
                </a:solidFill>
                <a:ea typeface="Roboto"/>
                <a:cs typeface="Roboto"/>
              </a:rPr>
              <a:t> expiration</a:t>
            </a:r>
            <a:endParaRPr lang="fr-BE" sz="1550" u="sng">
              <a:solidFill>
                <a:schemeClr val="tx1"/>
              </a:solidFill>
            </a:endParaRPr>
          </a:p>
          <a:p>
            <a:pPr marL="890905" indent="-342265" algn="just">
              <a:buFont typeface="Arial,Sans-Serif" panose="020B0604020202020204" pitchFamily="34" charset="0"/>
              <a:buChar char="•"/>
            </a:pPr>
            <a:endParaRPr lang="fr-BE" sz="1000" dirty="0">
              <a:solidFill>
                <a:srgbClr val="202124"/>
              </a:solidFill>
              <a:ea typeface="Roboto"/>
              <a:cs typeface="Roboto"/>
            </a:endParaRPr>
          </a:p>
          <a:p>
            <a:pPr marL="890905" lvl="1" indent="-342265" algn="just">
              <a:buFont typeface="Arial,Sans-Serif" panose="020B0604020202020204" pitchFamily="34" charset="0"/>
              <a:buChar char="•"/>
            </a:pPr>
            <a:endParaRPr lang="fr-BE" sz="1000" dirty="0">
              <a:solidFill>
                <a:srgbClr val="5F6368"/>
              </a:solidFill>
              <a:ea typeface="Roboto"/>
              <a:cs typeface="Roboto"/>
            </a:endParaRPr>
          </a:p>
          <a:p>
            <a:pPr marL="890905" lvl="1" indent="-410845" algn="just">
              <a:buFont typeface="Arial,Sans-Serif" panose="020B0604020202020204" pitchFamily="34" charset="0"/>
              <a:buChar char="•"/>
            </a:pPr>
            <a:endParaRPr lang="fr-BE" sz="1300" dirty="0">
              <a:ea typeface="Roboto"/>
              <a:cs typeface="Roboto"/>
            </a:endParaRPr>
          </a:p>
          <a:p>
            <a:pPr marL="890905" lvl="1" indent="-410845" algn="just">
              <a:buFont typeface="Arial,Sans-Serif" panose="020B0604020202020204" pitchFamily="34" charset="0"/>
              <a:buChar char="•"/>
            </a:pPr>
            <a:endParaRPr lang="fr-BE" sz="2150" b="1" dirty="0">
              <a:ea typeface="Roboto"/>
              <a:cs typeface="Roboto"/>
            </a:endParaRPr>
          </a:p>
          <a:p>
            <a:pPr marL="890905" lvl="1" indent="-410845" algn="just">
              <a:buFont typeface="Arial,Sans-Serif" panose="020B0604020202020204" pitchFamily="34" charset="0"/>
              <a:buChar char="•"/>
            </a:pPr>
            <a:endParaRPr lang="fr-BE" sz="2150" b="1" dirty="0">
              <a:ea typeface="Roboto"/>
              <a:cs typeface="Roboto"/>
            </a:endParaRPr>
          </a:p>
          <a:p>
            <a:pPr marL="410845" indent="-410845" algn="just">
              <a:buFont typeface="Arial" panose="020B0604020202020204" pitchFamily="34" charset="0"/>
              <a:buChar char="•"/>
            </a:pPr>
            <a:endParaRPr lang="fr-BE" dirty="0">
              <a:highlight>
                <a:srgbClr val="FF0000"/>
              </a:highlight>
              <a:ea typeface="Roboto"/>
              <a:cs typeface="Roboto"/>
            </a:endParaRPr>
          </a:p>
          <a:p>
            <a:pPr marL="410845" indent="-410845" algn="just">
              <a:buFont typeface="Arial" panose="020B0604020202020204" pitchFamily="34" charset="0"/>
              <a:buChar char="•"/>
            </a:pPr>
            <a:endParaRPr lang="en-US">
              <a:ea typeface="Roboto"/>
              <a:cs typeface="Roboto"/>
            </a:endParaRPr>
          </a:p>
          <a:p>
            <a:pPr marL="0" indent="0" algn="just">
              <a:buNone/>
            </a:pPr>
            <a:endParaRPr lang="fr-BE" sz="2200">
              <a:ea typeface="Roboto"/>
              <a:cs typeface="Roboto"/>
            </a:endParaRPr>
          </a:p>
          <a:p>
            <a:pPr marL="0" indent="0" algn="just">
              <a:buNone/>
            </a:pPr>
            <a:endParaRPr lang="fr-BE"/>
          </a:p>
          <a:p>
            <a:pPr marL="0" indent="0" algn="just">
              <a:buNone/>
            </a:pPr>
            <a:endParaRPr lang="fr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3BC35-7230-1551-C124-3527D7CC1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116" y="2486410"/>
            <a:ext cx="2773578" cy="1565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DA6003-8FBE-6C0C-174C-C94A14279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377" y="508942"/>
            <a:ext cx="3383434" cy="90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8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mec_2024">
  <a:themeElements>
    <a:clrScheme name="imec rebranded">
      <a:dk1>
        <a:srgbClr val="3C3C3B"/>
      </a:dk1>
      <a:lt1>
        <a:srgbClr val="FFFFFF"/>
      </a:lt1>
      <a:dk2>
        <a:srgbClr val="3F98BD"/>
      </a:dk2>
      <a:lt2>
        <a:srgbClr val="929497"/>
      </a:lt2>
      <a:accent1>
        <a:srgbClr val="90298D"/>
      </a:accent1>
      <a:accent2>
        <a:srgbClr val="36337D"/>
      </a:accent2>
      <a:accent3>
        <a:srgbClr val="1582BE"/>
      </a:accent3>
      <a:accent4>
        <a:srgbClr val="99BDE4"/>
      </a:accent4>
      <a:accent5>
        <a:srgbClr val="C778AD"/>
      </a:accent5>
      <a:accent6>
        <a:srgbClr val="52BDC2"/>
      </a:accent6>
      <a:hlink>
        <a:srgbClr val="3F98BD"/>
      </a:hlink>
      <a:folHlink>
        <a:srgbClr val="2D6C85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chemeClr val="accent6"/>
            </a:gs>
            <a:gs pos="60000">
              <a:schemeClr val="tx2"/>
            </a:gs>
          </a:gsLst>
          <a:lin ang="2700000" scaled="0"/>
        </a:gradFill>
        <a:ln>
          <a:noFill/>
        </a:ln>
        <a:effectLst/>
      </a:spPr>
      <a:bodyPr rtlCol="0" anchor="ctr"/>
      <a:lstStyle>
        <a:defPPr algn="ctr">
          <a:defRPr sz="140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mpd="sng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mec_2024" id="{0F828631-9EE8-A149-B3E5-75904D09C5F1}" vid="{E75121ED-F9F0-FB41-9D7E-649B23FBED3A}"/>
    </a:ext>
  </a:extLst>
</a:theme>
</file>

<file path=ppt/theme/theme2.xml><?xml version="1.0" encoding="utf-8"?>
<a:theme xmlns:a="http://schemas.openxmlformats.org/drawingml/2006/main" name="Office Theme imec rebranded">
  <a:themeElements>
    <a:clrScheme name="imec rebranded">
      <a:dk1>
        <a:srgbClr val="3C3C3B"/>
      </a:dk1>
      <a:lt1>
        <a:srgbClr val="FFFFFF"/>
      </a:lt1>
      <a:dk2>
        <a:srgbClr val="3F98BD"/>
      </a:dk2>
      <a:lt2>
        <a:srgbClr val="929497"/>
      </a:lt2>
      <a:accent1>
        <a:srgbClr val="90298D"/>
      </a:accent1>
      <a:accent2>
        <a:srgbClr val="36337D"/>
      </a:accent2>
      <a:accent3>
        <a:srgbClr val="1582BE"/>
      </a:accent3>
      <a:accent4>
        <a:srgbClr val="99BDE4"/>
      </a:accent4>
      <a:accent5>
        <a:srgbClr val="C778AD"/>
      </a:accent5>
      <a:accent6>
        <a:srgbClr val="52BDC2"/>
      </a:accent6>
      <a:hlink>
        <a:srgbClr val="3F98BD"/>
      </a:hlink>
      <a:folHlink>
        <a:srgbClr val="2D6C85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chemeClr val="accent6"/>
            </a:gs>
            <a:gs pos="60000">
              <a:schemeClr val="tx2"/>
            </a:gs>
          </a:gsLst>
          <a:lin ang="2700000" scaled="0"/>
        </a:gradFill>
        <a:ln>
          <a:noFill/>
        </a:ln>
        <a:effectLst/>
      </a:spPr>
      <a:bodyPr rtlCol="0" anchor="ctr"/>
      <a:lstStyle>
        <a:defPPr algn="ctr">
          <a:defRPr sz="140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mpd="sng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mec_confidential internal use" id="{83BCF9EE-2E33-BD47-AF72-A59DA8837A2D}" vid="{C6DB0FAE-AC79-424C-AD56-20F9F41015A0}"/>
    </a:ext>
  </a:extLst>
</a:theme>
</file>

<file path=ppt/theme/theme3.xml><?xml version="1.0" encoding="utf-8"?>
<a:theme xmlns:a="http://schemas.openxmlformats.org/drawingml/2006/main" name="imec - holst">
  <a:themeElements>
    <a:clrScheme name="imec rebranded">
      <a:dk1>
        <a:srgbClr val="3C3C3B"/>
      </a:dk1>
      <a:lt1>
        <a:srgbClr val="FFFFFF"/>
      </a:lt1>
      <a:dk2>
        <a:srgbClr val="3F98BD"/>
      </a:dk2>
      <a:lt2>
        <a:srgbClr val="929497"/>
      </a:lt2>
      <a:accent1>
        <a:srgbClr val="90298D"/>
      </a:accent1>
      <a:accent2>
        <a:srgbClr val="36337D"/>
      </a:accent2>
      <a:accent3>
        <a:srgbClr val="1582BE"/>
      </a:accent3>
      <a:accent4>
        <a:srgbClr val="99BDE4"/>
      </a:accent4>
      <a:accent5>
        <a:srgbClr val="C778AD"/>
      </a:accent5>
      <a:accent6>
        <a:srgbClr val="52BDC2"/>
      </a:accent6>
      <a:hlink>
        <a:srgbClr val="3F98BD"/>
      </a:hlink>
      <a:folHlink>
        <a:srgbClr val="2D6C85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sz="900" b="1" dirty="0" smtClean="0">
            <a:latin typeface="Gill Sans MT"/>
            <a:cs typeface="Gill Sans MT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mpd="sng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050" b="1" dirty="0" smtClean="0">
            <a:solidFill>
              <a:srgbClr val="46474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mec_confidential internal use" id="{83BCF9EE-2E33-BD47-AF72-A59DA8837A2D}" vid="{1098CD09-1E71-544D-A2AD-3631B5308B1F}"/>
    </a:ext>
  </a:extLst>
</a:theme>
</file>

<file path=ppt/theme/theme4.xml><?xml version="1.0" encoding="utf-8"?>
<a:theme xmlns:a="http://schemas.openxmlformats.org/drawingml/2006/main" name="imec - nerf">
  <a:themeElements>
    <a:clrScheme name="imec rebranded">
      <a:dk1>
        <a:srgbClr val="3C3C3B"/>
      </a:dk1>
      <a:lt1>
        <a:srgbClr val="FFFFFF"/>
      </a:lt1>
      <a:dk2>
        <a:srgbClr val="3F98BD"/>
      </a:dk2>
      <a:lt2>
        <a:srgbClr val="929497"/>
      </a:lt2>
      <a:accent1>
        <a:srgbClr val="90298D"/>
      </a:accent1>
      <a:accent2>
        <a:srgbClr val="36337D"/>
      </a:accent2>
      <a:accent3>
        <a:srgbClr val="1582BE"/>
      </a:accent3>
      <a:accent4>
        <a:srgbClr val="99BDE4"/>
      </a:accent4>
      <a:accent5>
        <a:srgbClr val="C778AD"/>
      </a:accent5>
      <a:accent6>
        <a:srgbClr val="52BDC2"/>
      </a:accent6>
      <a:hlink>
        <a:srgbClr val="3F98BD"/>
      </a:hlink>
      <a:folHlink>
        <a:srgbClr val="2D6C85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sz="900" b="1" dirty="0" smtClean="0">
            <a:latin typeface="Gill Sans MT"/>
            <a:cs typeface="Gill Sans MT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mpd="sng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050" b="1" dirty="0" smtClean="0">
            <a:solidFill>
              <a:srgbClr val="46474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mec_confidential internal use" id="{83BCF9EE-2E33-BD47-AF72-A59DA8837A2D}" vid="{561B4D7A-9EA6-FE42-BA23-3C8CCAD7E0ED}"/>
    </a:ext>
  </a:extLst>
</a:theme>
</file>

<file path=ppt/theme/theme5.xml><?xml version="1.0" encoding="utf-8"?>
<a:theme xmlns:a="http://schemas.openxmlformats.org/drawingml/2006/main" name="imec - solliance">
  <a:themeElements>
    <a:clrScheme name="imec rebranded">
      <a:dk1>
        <a:srgbClr val="3C3C3B"/>
      </a:dk1>
      <a:lt1>
        <a:srgbClr val="FFFFFF"/>
      </a:lt1>
      <a:dk2>
        <a:srgbClr val="3F98BD"/>
      </a:dk2>
      <a:lt2>
        <a:srgbClr val="929497"/>
      </a:lt2>
      <a:accent1>
        <a:srgbClr val="90298D"/>
      </a:accent1>
      <a:accent2>
        <a:srgbClr val="36337D"/>
      </a:accent2>
      <a:accent3>
        <a:srgbClr val="1582BE"/>
      </a:accent3>
      <a:accent4>
        <a:srgbClr val="99BDE4"/>
      </a:accent4>
      <a:accent5>
        <a:srgbClr val="C778AD"/>
      </a:accent5>
      <a:accent6>
        <a:srgbClr val="52BDC2"/>
      </a:accent6>
      <a:hlink>
        <a:srgbClr val="3F98BD"/>
      </a:hlink>
      <a:folHlink>
        <a:srgbClr val="2D6C85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sz="900" b="1" dirty="0" smtClean="0">
            <a:latin typeface="Gill Sans MT"/>
            <a:cs typeface="Gill Sans MT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mpd="sng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050" b="1" dirty="0" smtClean="0">
            <a:solidFill>
              <a:srgbClr val="46474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mec_confidential internal use" id="{83BCF9EE-2E33-BD47-AF72-A59DA8837A2D}" vid="{81522F9D-2F7C-3D46-ACC0-927DE82943E2}"/>
    </a:ext>
  </a:extLst>
</a:theme>
</file>

<file path=ppt/theme/theme6.xml><?xml version="1.0" encoding="utf-8"?>
<a:theme xmlns:a="http://schemas.openxmlformats.org/drawingml/2006/main" name="imec - exascience">
  <a:themeElements>
    <a:clrScheme name="imec rebranded">
      <a:dk1>
        <a:srgbClr val="3C3C3B"/>
      </a:dk1>
      <a:lt1>
        <a:srgbClr val="FFFFFF"/>
      </a:lt1>
      <a:dk2>
        <a:srgbClr val="3F98BD"/>
      </a:dk2>
      <a:lt2>
        <a:srgbClr val="929497"/>
      </a:lt2>
      <a:accent1>
        <a:srgbClr val="90298D"/>
      </a:accent1>
      <a:accent2>
        <a:srgbClr val="36337D"/>
      </a:accent2>
      <a:accent3>
        <a:srgbClr val="1582BE"/>
      </a:accent3>
      <a:accent4>
        <a:srgbClr val="99BDE4"/>
      </a:accent4>
      <a:accent5>
        <a:srgbClr val="C778AD"/>
      </a:accent5>
      <a:accent6>
        <a:srgbClr val="52BDC2"/>
      </a:accent6>
      <a:hlink>
        <a:srgbClr val="3F98BD"/>
      </a:hlink>
      <a:folHlink>
        <a:srgbClr val="2D6C85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sz="900" b="1" dirty="0" smtClean="0">
            <a:latin typeface="Gill Sans MT"/>
            <a:cs typeface="Gill Sans MT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mpd="sng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050" b="1" dirty="0" smtClean="0">
            <a:solidFill>
              <a:srgbClr val="46474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mec_confidential internal use" id="{83BCF9EE-2E33-BD47-AF72-A59DA8837A2D}" vid="{93315A81-4554-CF40-8476-B06441B2BE3F}"/>
    </a:ext>
  </a:extLst>
</a:theme>
</file>

<file path=ppt/theme/theme7.xml><?xml version="1.0" encoding="utf-8"?>
<a:theme xmlns:a="http://schemas.openxmlformats.org/drawingml/2006/main" name="imec - energyville">
  <a:themeElements>
    <a:clrScheme name="imec rebranded">
      <a:dk1>
        <a:srgbClr val="3C3C3B"/>
      </a:dk1>
      <a:lt1>
        <a:srgbClr val="FFFFFF"/>
      </a:lt1>
      <a:dk2>
        <a:srgbClr val="3F98BD"/>
      </a:dk2>
      <a:lt2>
        <a:srgbClr val="929497"/>
      </a:lt2>
      <a:accent1>
        <a:srgbClr val="90298D"/>
      </a:accent1>
      <a:accent2>
        <a:srgbClr val="36337D"/>
      </a:accent2>
      <a:accent3>
        <a:srgbClr val="1582BE"/>
      </a:accent3>
      <a:accent4>
        <a:srgbClr val="99BDE4"/>
      </a:accent4>
      <a:accent5>
        <a:srgbClr val="C778AD"/>
      </a:accent5>
      <a:accent6>
        <a:srgbClr val="52BDC2"/>
      </a:accent6>
      <a:hlink>
        <a:srgbClr val="3F98BD"/>
      </a:hlink>
      <a:folHlink>
        <a:srgbClr val="2D6C85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sz="900" b="1" dirty="0" smtClean="0">
            <a:latin typeface="Gill Sans MT"/>
            <a:cs typeface="Gill Sans MT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mpd="sng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050" b="1" dirty="0" smtClean="0">
            <a:solidFill>
              <a:srgbClr val="46474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mec_confidential internal use" id="{83BCF9EE-2E33-BD47-AF72-A59DA8837A2D}" vid="{3E0E9C45-B6B7-1C43-A6DB-49841BC68111}"/>
    </a:ext>
  </a:extLst>
</a:theme>
</file>

<file path=ppt/theme/theme8.xml><?xml version="1.0" encoding="utf-8"?>
<a:theme xmlns:a="http://schemas.openxmlformats.org/drawingml/2006/main" name="imec - solliance - energyville">
  <a:themeElements>
    <a:clrScheme name="imec rebranded">
      <a:dk1>
        <a:srgbClr val="3C3C3B"/>
      </a:dk1>
      <a:lt1>
        <a:srgbClr val="FFFFFF"/>
      </a:lt1>
      <a:dk2>
        <a:srgbClr val="3F98BD"/>
      </a:dk2>
      <a:lt2>
        <a:srgbClr val="929497"/>
      </a:lt2>
      <a:accent1>
        <a:srgbClr val="90298D"/>
      </a:accent1>
      <a:accent2>
        <a:srgbClr val="36337D"/>
      </a:accent2>
      <a:accent3>
        <a:srgbClr val="1582BE"/>
      </a:accent3>
      <a:accent4>
        <a:srgbClr val="99BDE4"/>
      </a:accent4>
      <a:accent5>
        <a:srgbClr val="C778AD"/>
      </a:accent5>
      <a:accent6>
        <a:srgbClr val="52BDC2"/>
      </a:accent6>
      <a:hlink>
        <a:srgbClr val="3F98BD"/>
      </a:hlink>
      <a:folHlink>
        <a:srgbClr val="2D6C85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 sz="900" b="1" dirty="0" smtClean="0">
            <a:latin typeface="Gill Sans MT"/>
            <a:cs typeface="Gill Sans MT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mpd="sng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050" b="1" dirty="0" smtClean="0">
            <a:solidFill>
              <a:srgbClr val="46474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mec_confidential internal use" id="{83BCF9EE-2E33-BD47-AF72-A59DA8837A2D}" vid="{C13E4CBF-FCF9-AD4A-9017-EC59D566A0C0}"/>
    </a:ext>
  </a:extLst>
</a:theme>
</file>

<file path=ppt/theme/theme9.xml><?xml version="1.0" encoding="utf-8"?>
<a:theme xmlns:a="http://schemas.openxmlformats.org/drawingml/2006/main" name="ETRO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99"/>
      </a:accent1>
      <a:accent2>
        <a:srgbClr val="FF60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st kunstmaa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est kunstmaa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kunstmaa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kunstmaa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kunstmaa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kunstmaa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kunstmaa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kunstmaa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kunstmaa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kunstmaa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kunstmaa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kunstmaa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kunstmaa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00206 ETRO Jaarvergadering.pptx" id="{A3F7A575-BACB-1A4C-99B7-04C92FF80A5A}" vid="{687971D9-737C-D74A-8410-ADF4A1A381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imec_2024</Template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imec_2024</vt:lpstr>
      <vt:lpstr>Office Theme imec rebranded</vt:lpstr>
      <vt:lpstr>imec - holst</vt:lpstr>
      <vt:lpstr>imec - nerf</vt:lpstr>
      <vt:lpstr>imec - solliance</vt:lpstr>
      <vt:lpstr>imec - exascience</vt:lpstr>
      <vt:lpstr>imec - energyville</vt:lpstr>
      <vt:lpstr>imec - solliance - energyville</vt:lpstr>
      <vt:lpstr>ETRO</vt:lpstr>
      <vt:lpstr>Blerta_Project</vt:lpstr>
      <vt:lpstr>pATENt Research </vt:lpstr>
      <vt:lpstr>pATENt Research </vt:lpstr>
      <vt:lpstr>pATENt Research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Hyun-su Kim</dc:creator>
  <cp:revision>103</cp:revision>
  <dcterms:created xsi:type="dcterms:W3CDTF">2025-08-10T08:32:20Z</dcterms:created>
  <dcterms:modified xsi:type="dcterms:W3CDTF">2025-11-10T13:34:45Z</dcterms:modified>
</cp:coreProperties>
</file>